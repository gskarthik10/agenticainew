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92" r:id="rId2"/>
    <p:sldId id="707" r:id="rId3"/>
    <p:sldId id="708" r:id="rId4"/>
    <p:sldId id="593" r:id="rId5"/>
    <p:sldId id="594" r:id="rId6"/>
    <p:sldId id="595" r:id="rId7"/>
    <p:sldId id="596" r:id="rId8"/>
    <p:sldId id="597" r:id="rId9"/>
    <p:sldId id="598" r:id="rId10"/>
    <p:sldId id="599" r:id="rId11"/>
    <p:sldId id="709" r:id="rId12"/>
    <p:sldId id="710" r:id="rId13"/>
    <p:sldId id="601" r:id="rId14"/>
    <p:sldId id="689" r:id="rId15"/>
    <p:sldId id="696" r:id="rId16"/>
    <p:sldId id="711" r:id="rId17"/>
    <p:sldId id="258" r:id="rId18"/>
    <p:sldId id="714" r:id="rId19"/>
    <p:sldId id="715" r:id="rId20"/>
    <p:sldId id="712" r:id="rId21"/>
    <p:sldId id="713" r:id="rId22"/>
    <p:sldId id="695" r:id="rId23"/>
    <p:sldId id="605" r:id="rId24"/>
    <p:sldId id="697" r:id="rId25"/>
    <p:sldId id="698" r:id="rId26"/>
    <p:sldId id="607" r:id="rId27"/>
    <p:sldId id="609" r:id="rId28"/>
    <p:sldId id="61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56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62B56-AFE7-CC83-219A-B6F0ADB5F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DA5CFF-2BB6-48A0-2978-5BD517308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A4F4C-F604-CBAF-44CA-93E0BCE36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C335A-5BA9-E59A-6029-54DDC87FE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255EB-87C1-E292-4EA1-215762164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41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B16D2-BD28-9556-015E-61DB37FE8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BC32A-25E8-B294-F1D2-BCDDB8D2E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B791D-C762-2D37-C521-DC91186F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6F810-7A11-2A66-26C9-A8F68A6D7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506AE-E339-6BF3-74A2-B25ACDB7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586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62122-11D3-4566-F616-3E6F43EA3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7D551-3566-F150-16AC-E3A028FF0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C92AC-FA2F-8132-EF85-3D5E7586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71F8E-0560-E1A8-F77D-A0F9D6695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AB8EA-8860-91D2-F815-6F4BC8466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981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862FC-AEB2-EA25-CD0C-74DDEBE47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EEC0A-7013-B00D-8EF6-3321C9803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D89D7A-0266-33FB-5DC7-E0A3373BC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7F90A-25CB-985A-3912-6BD297DFA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8A397-03CF-3779-8F1D-D960AA532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C45EF-071F-1619-EBB3-ECFD44078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C96A0-276F-6547-FDB8-8F6019BD8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52B86-508C-93E1-511A-31410EEEB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6B401-F1AC-14F8-19BC-C406E7A49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F501D2-154B-28A8-DA4F-B8BE9F3933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01B02C-2A69-3A49-F331-44F9FAD228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DB9C3B-8EBD-1C15-19EA-9D1CD3F79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DC7032-61B7-0F47-4354-EEE55934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A4514F-3402-5BB2-D7C2-F9D591253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62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6432F-46CA-45A8-9845-4E85235BC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843689-C535-73C9-A477-C53F6D05A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2522AF-AA00-6A77-B1D2-F8202FC4B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639D77-9D05-0161-193D-9D8121351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525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AB83DC-AB24-873C-4189-B1D8219A3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A56F4A-4581-F802-2FE9-99F2AAB2F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2B5AC-8F99-A667-42D4-FF949F616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688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71EF5-CB87-419D-7B7A-4D9911DED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96142-DAE1-E63F-8331-360ADA5B8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361C8-FC1E-4DB7-F56C-A8D064468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72A40-5969-7E80-CD0C-2DE1F9256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000D3-69BC-C6F3-C8AA-E48A105A8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333A7-EAD6-185F-F490-38895F208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37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BD8B8-3AFF-3D70-AE7C-393EC0949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84E44-858F-3904-72F9-57F079309C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E434CB-57D8-F250-140B-409C647E8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BBB5B-F269-34EF-C9F2-2C894A5AF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99C46-146F-BEEB-26B7-EAA3B60CC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8941E-1617-4D00-3784-CF8911991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77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AB89B-22CC-4FD3-3449-02FB064CD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BD3FEC-2DCC-2982-3316-1D8014370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68278-F8DB-D96D-FE3B-93C9F4EC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1832B-4F66-3481-4C31-BEFE4C64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4A4FF-43B3-E267-710A-64286363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209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0CBBB0-E4E8-AD43-1CCD-9233FA5195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77B6FD-51AC-CA04-0BD2-1CA393B08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3D1D4-0BB4-A6FD-896B-B25B010ED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5E443-610D-42A0-9868-A4C7882CB10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B6C92-4E90-8E12-EF5E-EA1BE8968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F485E-6CA6-50DF-B5D5-3A940EADA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668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494973-2AE5-20F6-4B0D-32CFB1C0C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2E064-9C13-7839-747B-1ACE61CBF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9476B-985B-5BF0-BD93-FA52A6F94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5E443-610D-42A0-9868-A4C7882CB108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D32B6-8C23-DC1C-B219-6FD1D0EDF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36D8F-79BF-B922-368C-E427C38A3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0F72A-F02C-45AF-A497-346846B301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461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796F3-F0C9-2A4B-A4DF-F840FA3A9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897DF1-B521-50BF-959B-2A73EC08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3) </a:t>
            </a:r>
            <a:r>
              <a:rPr lang="en-IN" noProof="0" dirty="0" err="1"/>
              <a:t>LangGraph</a:t>
            </a:r>
            <a:endParaRPr lang="en-IN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CCD2C4-3E28-4FA6-24D8-E931A9211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680214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C7F28C-27A4-11CF-2B58-5F0E1399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Evolution of Approaches to Work with LLMs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10CDE16-C531-28EE-86EB-313F752CFDA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2174" y="1563554"/>
          <a:ext cx="10979780" cy="5033088"/>
        </p:xfrm>
        <a:graphic>
          <a:graphicData uri="http://schemas.openxmlformats.org/drawingml/2006/table">
            <a:tbl>
              <a:tblPr/>
              <a:tblGrid>
                <a:gridCol w="2744945">
                  <a:extLst>
                    <a:ext uri="{9D8B030D-6E8A-4147-A177-3AD203B41FA5}">
                      <a16:colId xmlns:a16="http://schemas.microsoft.com/office/drawing/2014/main" val="1005533476"/>
                    </a:ext>
                  </a:extLst>
                </a:gridCol>
                <a:gridCol w="2744945">
                  <a:extLst>
                    <a:ext uri="{9D8B030D-6E8A-4147-A177-3AD203B41FA5}">
                      <a16:colId xmlns:a16="http://schemas.microsoft.com/office/drawing/2014/main" val="1623735358"/>
                    </a:ext>
                  </a:extLst>
                </a:gridCol>
                <a:gridCol w="2744945">
                  <a:extLst>
                    <a:ext uri="{9D8B030D-6E8A-4147-A177-3AD203B41FA5}">
                      <a16:colId xmlns:a16="http://schemas.microsoft.com/office/drawing/2014/main" val="25529417"/>
                    </a:ext>
                  </a:extLst>
                </a:gridCol>
                <a:gridCol w="2744945">
                  <a:extLst>
                    <a:ext uri="{9D8B030D-6E8A-4147-A177-3AD203B41FA5}">
                      <a16:colId xmlns:a16="http://schemas.microsoft.com/office/drawing/2014/main" val="3118462400"/>
                    </a:ext>
                  </a:extLst>
                </a:gridCol>
              </a:tblGrid>
              <a:tr h="2131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Aspect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OOP-style (Manual)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 err="1"/>
                        <a:t>LangChain</a:t>
                      </a:r>
                      <a:r>
                        <a:rPr lang="en-IN" sz="1600" b="1" noProof="0" dirty="0"/>
                        <a:t> (LCEL)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 err="1"/>
                        <a:t>LangGraph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871615"/>
                  </a:ext>
                </a:extLst>
              </a:tr>
              <a:tr h="684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Core idea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Traditional Python classes/functions controlling API calls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Functional &amp; declarative LLM “chains” using the </a:t>
                      </a:r>
                      <a:r>
                        <a:rPr lang="en-IN" sz="1600" b="1" noProof="0" dirty="0" err="1"/>
                        <a:t>LangChain</a:t>
                      </a:r>
                      <a:r>
                        <a:rPr lang="en-IN" sz="1600" b="1" noProof="0" dirty="0"/>
                        <a:t> Expression Language (LCEL)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Graph-based, event-driven system where each node can be an LLM, tool, or function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285053"/>
                  </a:ext>
                </a:extLst>
              </a:tr>
              <a:tr h="526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Level of abstraction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Low — direct API calls and manual flow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Medium — declarative pipeline of components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High — nodes and edges define complex, reactive workflows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466329"/>
                  </a:ext>
                </a:extLst>
              </a:tr>
              <a:tr h="684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State management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Manual; handled in code (variables, memory)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Partly handled via memory components or retrievers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Explicit and persistent graph state (supports branches, loops, conditional edges)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511895"/>
                  </a:ext>
                </a:extLst>
              </a:tr>
              <a:tr h="526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Error handling / control flow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Manual try/except logic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Built-in retry and fallback options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Graph nodes can define error edges or conditional transitions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339722"/>
                  </a:ext>
                </a:extLst>
              </a:tr>
              <a:tr h="684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Reactivity / branching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Linear; must code logic explicitly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Mostly linear (LCEL adds limited conditional logic)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Fully reactive — conditional routing, parallel branches, feedback loops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199290"/>
                  </a:ext>
                </a:extLst>
              </a:tr>
              <a:tr h="526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Use case fit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Simple, one-off LLM calls or prototypes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Standard pipelines (e.g., prompt → LLM → parser → tool)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Complex, multi-agent, or stateful reasoning workflows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00949"/>
                  </a:ext>
                </a:extLst>
              </a:tr>
              <a:tr h="3687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noProof="0" dirty="0"/>
                        <a:t>Example use case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“Ask LLM to summarize text”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Same, but wrapped in a </a:t>
                      </a:r>
                      <a:r>
                        <a:rPr lang="en-IN" sz="1600" noProof="0" dirty="0" err="1"/>
                        <a:t>LangChain</a:t>
                      </a:r>
                      <a:r>
                        <a:rPr lang="en-IN" sz="1600" noProof="0" dirty="0"/>
                        <a:t> </a:t>
                      </a:r>
                      <a:r>
                        <a:rPr lang="en-IN" sz="1600" noProof="0" dirty="0">
                          <a:latin typeface="Courier New" panose="02070309020205020404" pitchFamily="49" charset="0"/>
                        </a:rPr>
                        <a:t>chain</a:t>
                      </a:r>
                      <a:endParaRPr lang="en-IN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noProof="0" dirty="0"/>
                        <a:t>Same, but </a:t>
                      </a:r>
                      <a:r>
                        <a:rPr lang="en-IN" sz="1600" noProof="0" dirty="0" err="1"/>
                        <a:t>modeled</a:t>
                      </a:r>
                      <a:r>
                        <a:rPr lang="en-IN" sz="1600" noProof="0" dirty="0"/>
                        <a:t> as a small reactive graph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849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763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3FB9-CF8A-447B-E1BE-02835BF24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Comparison of the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26545-4695-D264-A58A-1DF7F5899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5580B6-A3A1-6B70-6232-8FAA1BCB370B}"/>
              </a:ext>
            </a:extLst>
          </p:cNvPr>
          <p:cNvSpPr txBox="1"/>
          <p:nvPr/>
        </p:nvSpPr>
        <p:spPr>
          <a:xfrm>
            <a:off x="949881" y="1923802"/>
            <a:ext cx="1842760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noProof="0" dirty="0"/>
              <a:t>from </a:t>
            </a:r>
            <a:r>
              <a:rPr lang="en-IN" sz="1200" noProof="0" dirty="0" err="1"/>
              <a:t>openai</a:t>
            </a:r>
            <a:r>
              <a:rPr lang="en-IN" sz="1200" noProof="0" dirty="0"/>
              <a:t> import OpenAI</a:t>
            </a:r>
          </a:p>
          <a:p>
            <a:r>
              <a:rPr lang="en-IN" sz="1200" noProof="0" dirty="0"/>
              <a:t>client = OpenAI()</a:t>
            </a:r>
          </a:p>
          <a:p>
            <a:endParaRPr lang="en-IN" sz="1200" noProof="0" dirty="0"/>
          </a:p>
          <a:p>
            <a:r>
              <a:rPr lang="en-IN" sz="1200" noProof="0" dirty="0"/>
              <a:t>text = "</a:t>
            </a:r>
            <a:r>
              <a:rPr lang="en-IN" sz="1200" noProof="0" dirty="0" err="1"/>
              <a:t>LangChain</a:t>
            </a:r>
            <a:r>
              <a:rPr lang="en-IN" sz="1200" noProof="0" dirty="0"/>
              <a:t> and </a:t>
            </a:r>
            <a:r>
              <a:rPr lang="en-IN" sz="1200" noProof="0" dirty="0" err="1"/>
              <a:t>LangGraph</a:t>
            </a:r>
            <a:r>
              <a:rPr lang="en-IN" sz="1200" noProof="0" dirty="0"/>
              <a:t> simplify how developers use LLMs."</a:t>
            </a:r>
          </a:p>
          <a:p>
            <a:r>
              <a:rPr lang="en-IN" sz="1200" noProof="0" dirty="0"/>
              <a:t>prompt = </a:t>
            </a:r>
            <a:r>
              <a:rPr lang="en-IN" sz="1200" noProof="0" dirty="0" err="1"/>
              <a:t>f"Summarize</a:t>
            </a:r>
            <a:r>
              <a:rPr lang="en-IN" sz="1200" noProof="0" dirty="0"/>
              <a:t> this: {text}"</a:t>
            </a:r>
          </a:p>
          <a:p>
            <a:endParaRPr lang="en-IN" sz="1200" noProof="0" dirty="0"/>
          </a:p>
          <a:p>
            <a:r>
              <a:rPr lang="en-IN" sz="1200" noProof="0" dirty="0"/>
              <a:t>response = </a:t>
            </a:r>
            <a:r>
              <a:rPr lang="en-IN" sz="1200" noProof="0" dirty="0" err="1"/>
              <a:t>client.chat.completions.create</a:t>
            </a:r>
            <a:r>
              <a:rPr lang="en-IN" sz="1200" noProof="0" dirty="0"/>
              <a:t>(</a:t>
            </a:r>
          </a:p>
          <a:p>
            <a:r>
              <a:rPr lang="en-IN" sz="1200" noProof="0" dirty="0"/>
              <a:t>    model="gpt-4o-mini",</a:t>
            </a:r>
          </a:p>
          <a:p>
            <a:r>
              <a:rPr lang="en-IN" sz="1200" noProof="0" dirty="0"/>
              <a:t>    messages=[{"role": "user", "content": prompt}]</a:t>
            </a:r>
          </a:p>
          <a:p>
            <a:r>
              <a:rPr lang="en-IN" sz="1200" noProof="0" dirty="0"/>
              <a:t>)</a:t>
            </a:r>
          </a:p>
          <a:p>
            <a:endParaRPr lang="en-IN" sz="1200" noProof="0" dirty="0"/>
          </a:p>
          <a:p>
            <a:r>
              <a:rPr lang="en-IN" sz="1200" noProof="0" dirty="0"/>
              <a:t>print(</a:t>
            </a:r>
            <a:r>
              <a:rPr lang="en-IN" sz="1200" noProof="0" dirty="0" err="1"/>
              <a:t>response.choices</a:t>
            </a:r>
            <a:r>
              <a:rPr lang="en-IN" sz="1200" noProof="0" dirty="0"/>
              <a:t>[0].</a:t>
            </a:r>
            <a:r>
              <a:rPr lang="en-IN" sz="1200" noProof="0" dirty="0" err="1"/>
              <a:t>message.content</a:t>
            </a:r>
            <a:r>
              <a:rPr lang="en-IN" sz="1200" noProof="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E3573A-FEC1-F194-C155-42EC6F8F538B}"/>
              </a:ext>
            </a:extLst>
          </p:cNvPr>
          <p:cNvSpPr txBox="1"/>
          <p:nvPr/>
        </p:nvSpPr>
        <p:spPr>
          <a:xfrm>
            <a:off x="4166276" y="1831469"/>
            <a:ext cx="2443636" cy="41549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noProof="0" dirty="0"/>
              <a:t>from </a:t>
            </a:r>
            <a:r>
              <a:rPr lang="en-IN" sz="1200" noProof="0" dirty="0" err="1"/>
              <a:t>langchain_openai</a:t>
            </a:r>
            <a:r>
              <a:rPr lang="en-IN" sz="1200" noProof="0" dirty="0"/>
              <a:t> import </a:t>
            </a:r>
            <a:r>
              <a:rPr lang="en-IN" sz="1200" noProof="0" dirty="0" err="1"/>
              <a:t>ChatOpenAI</a:t>
            </a:r>
            <a:endParaRPr lang="en-IN" sz="1200" noProof="0" dirty="0"/>
          </a:p>
          <a:p>
            <a:r>
              <a:rPr lang="en-IN" sz="1200" noProof="0" dirty="0"/>
              <a:t>from </a:t>
            </a:r>
            <a:r>
              <a:rPr lang="en-IN" sz="1200" noProof="0" dirty="0" err="1"/>
              <a:t>langchain.prompts</a:t>
            </a:r>
            <a:r>
              <a:rPr lang="en-IN" sz="1200" noProof="0" dirty="0"/>
              <a:t> import </a:t>
            </a:r>
            <a:r>
              <a:rPr lang="en-IN" sz="1200" noProof="0" dirty="0" err="1"/>
              <a:t>PromptTemplate</a:t>
            </a:r>
            <a:endParaRPr lang="en-IN" sz="1200" noProof="0" dirty="0"/>
          </a:p>
          <a:p>
            <a:r>
              <a:rPr lang="en-IN" sz="1200" noProof="0" dirty="0"/>
              <a:t>from </a:t>
            </a:r>
            <a:r>
              <a:rPr lang="en-IN" sz="1200" noProof="0" dirty="0" err="1"/>
              <a:t>langchain.schema.runnable</a:t>
            </a:r>
            <a:r>
              <a:rPr lang="en-IN" sz="1200" noProof="0" dirty="0"/>
              <a:t> import </a:t>
            </a:r>
            <a:r>
              <a:rPr lang="en-IN" sz="1200" noProof="0" dirty="0" err="1"/>
              <a:t>RunnableMap</a:t>
            </a:r>
            <a:r>
              <a:rPr lang="en-IN" sz="1200" noProof="0" dirty="0"/>
              <a:t>, </a:t>
            </a:r>
            <a:r>
              <a:rPr lang="en-IN" sz="1200" noProof="0" dirty="0" err="1"/>
              <a:t>RunnablePassthrough</a:t>
            </a:r>
            <a:endParaRPr lang="en-IN" sz="1200" noProof="0" dirty="0"/>
          </a:p>
          <a:p>
            <a:endParaRPr lang="en-IN" sz="1200" noProof="0" dirty="0"/>
          </a:p>
          <a:p>
            <a:r>
              <a:rPr lang="en-IN" sz="1200" noProof="0" dirty="0" err="1"/>
              <a:t>llm</a:t>
            </a:r>
            <a:r>
              <a:rPr lang="en-IN" sz="1200" noProof="0" dirty="0"/>
              <a:t> = </a:t>
            </a:r>
            <a:r>
              <a:rPr lang="en-IN" sz="1200" noProof="0" dirty="0" err="1"/>
              <a:t>ChatOpenAI</a:t>
            </a:r>
            <a:r>
              <a:rPr lang="en-IN" sz="1200" noProof="0" dirty="0"/>
              <a:t>(model="gpt-4o-mini")</a:t>
            </a:r>
          </a:p>
          <a:p>
            <a:r>
              <a:rPr lang="en-IN" sz="1200" noProof="0" dirty="0"/>
              <a:t>prompt = </a:t>
            </a:r>
            <a:r>
              <a:rPr lang="en-IN" sz="1200" noProof="0" dirty="0" err="1"/>
              <a:t>PromptTemplate.from_template</a:t>
            </a:r>
            <a:r>
              <a:rPr lang="en-IN" sz="1200" noProof="0" dirty="0"/>
              <a:t>("Summarize this: {text}")</a:t>
            </a:r>
          </a:p>
          <a:p>
            <a:endParaRPr lang="en-IN" sz="1200" noProof="0" dirty="0"/>
          </a:p>
          <a:p>
            <a:r>
              <a:rPr lang="en-IN" sz="1200" noProof="0" dirty="0"/>
              <a:t>chain = {"text": </a:t>
            </a:r>
            <a:r>
              <a:rPr lang="en-IN" sz="1200" noProof="0" dirty="0" err="1"/>
              <a:t>RunnablePassthrough</a:t>
            </a:r>
            <a:r>
              <a:rPr lang="en-IN" sz="1200" noProof="0" dirty="0"/>
              <a:t>()} | prompt | </a:t>
            </a:r>
            <a:r>
              <a:rPr lang="en-IN" sz="1200" noProof="0" dirty="0" err="1"/>
              <a:t>llm</a:t>
            </a:r>
            <a:endParaRPr lang="en-IN" sz="1200" noProof="0" dirty="0"/>
          </a:p>
          <a:p>
            <a:endParaRPr lang="en-IN" sz="1200" noProof="0" dirty="0"/>
          </a:p>
          <a:p>
            <a:r>
              <a:rPr lang="en-IN" sz="1200" noProof="0" dirty="0"/>
              <a:t>result = </a:t>
            </a:r>
            <a:r>
              <a:rPr lang="en-IN" sz="1200" noProof="0" dirty="0" err="1"/>
              <a:t>chain.invoke</a:t>
            </a:r>
            <a:r>
              <a:rPr lang="en-IN" sz="1200" noProof="0" dirty="0"/>
              <a:t>({"text": "</a:t>
            </a:r>
            <a:r>
              <a:rPr lang="en-IN" sz="1200" noProof="0" dirty="0" err="1"/>
              <a:t>LangChain</a:t>
            </a:r>
            <a:r>
              <a:rPr lang="en-IN" sz="1200" noProof="0" dirty="0"/>
              <a:t> and </a:t>
            </a:r>
            <a:r>
              <a:rPr lang="en-IN" sz="1200" noProof="0" dirty="0" err="1"/>
              <a:t>LangGraph</a:t>
            </a:r>
            <a:r>
              <a:rPr lang="en-IN" sz="1200" noProof="0" dirty="0"/>
              <a:t> simplify how developers use LLMs."})</a:t>
            </a:r>
          </a:p>
          <a:p>
            <a:r>
              <a:rPr lang="en-IN" sz="1200" noProof="0" dirty="0"/>
              <a:t>print(</a:t>
            </a:r>
            <a:r>
              <a:rPr lang="en-IN" sz="1200" noProof="0" dirty="0" err="1"/>
              <a:t>result.content</a:t>
            </a:r>
            <a:r>
              <a:rPr lang="en-IN" sz="1200" noProof="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FEE793-6703-28F7-84B9-AD990AFEEDDF}"/>
              </a:ext>
            </a:extLst>
          </p:cNvPr>
          <p:cNvSpPr txBox="1"/>
          <p:nvPr/>
        </p:nvSpPr>
        <p:spPr>
          <a:xfrm>
            <a:off x="7920725" y="1711012"/>
            <a:ext cx="3156775" cy="4524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noProof="0" dirty="0"/>
              <a:t>from </a:t>
            </a:r>
            <a:r>
              <a:rPr lang="en-IN" sz="1200" noProof="0" dirty="0" err="1"/>
              <a:t>langgraph.graph</a:t>
            </a:r>
            <a:r>
              <a:rPr lang="en-IN" sz="1200" noProof="0" dirty="0"/>
              <a:t> import Graph, END</a:t>
            </a:r>
          </a:p>
          <a:p>
            <a:r>
              <a:rPr lang="en-IN" sz="1200" noProof="0" dirty="0"/>
              <a:t>from </a:t>
            </a:r>
            <a:r>
              <a:rPr lang="en-IN" sz="1200" noProof="0" dirty="0" err="1"/>
              <a:t>langchain_openai</a:t>
            </a:r>
            <a:r>
              <a:rPr lang="en-IN" sz="1200" noProof="0" dirty="0"/>
              <a:t> import </a:t>
            </a:r>
            <a:r>
              <a:rPr lang="en-IN" sz="1200" noProof="0" dirty="0" err="1"/>
              <a:t>ChatOpenAI</a:t>
            </a:r>
            <a:endParaRPr lang="en-IN" sz="1200" noProof="0" dirty="0"/>
          </a:p>
          <a:p>
            <a:endParaRPr lang="en-IN" sz="1200" noProof="0" dirty="0"/>
          </a:p>
          <a:p>
            <a:r>
              <a:rPr lang="en-IN" sz="1200" noProof="0" dirty="0" err="1"/>
              <a:t>llm</a:t>
            </a:r>
            <a:r>
              <a:rPr lang="en-IN" sz="1200" noProof="0" dirty="0"/>
              <a:t> = </a:t>
            </a:r>
            <a:r>
              <a:rPr lang="en-IN" sz="1200" noProof="0" dirty="0" err="1"/>
              <a:t>ChatOpenAI</a:t>
            </a:r>
            <a:r>
              <a:rPr lang="en-IN" sz="1200" noProof="0" dirty="0"/>
              <a:t>(model="gpt-4o-mini")</a:t>
            </a:r>
          </a:p>
          <a:p>
            <a:endParaRPr lang="en-IN" sz="1200" noProof="0" dirty="0"/>
          </a:p>
          <a:p>
            <a:r>
              <a:rPr lang="en-IN" sz="1200" noProof="0" dirty="0"/>
              <a:t># Define the node (a summarization step)</a:t>
            </a:r>
          </a:p>
          <a:p>
            <a:r>
              <a:rPr lang="en-IN" sz="1200" noProof="0" dirty="0"/>
              <a:t>def </a:t>
            </a:r>
            <a:r>
              <a:rPr lang="en-IN" sz="1200" noProof="0" dirty="0" err="1"/>
              <a:t>summarize_node</a:t>
            </a:r>
            <a:r>
              <a:rPr lang="en-IN" sz="1200" noProof="0" dirty="0"/>
              <a:t>(state):</a:t>
            </a:r>
          </a:p>
          <a:p>
            <a:r>
              <a:rPr lang="en-IN" sz="1200" noProof="0" dirty="0"/>
              <a:t>    text = state["text"]</a:t>
            </a:r>
          </a:p>
          <a:p>
            <a:r>
              <a:rPr lang="en-IN" sz="1200" noProof="0" dirty="0"/>
              <a:t>    prompt = </a:t>
            </a:r>
            <a:r>
              <a:rPr lang="en-IN" sz="1200" noProof="0" dirty="0" err="1"/>
              <a:t>f"Summarize</a:t>
            </a:r>
            <a:r>
              <a:rPr lang="en-IN" sz="1200" noProof="0" dirty="0"/>
              <a:t> this: {text}"</a:t>
            </a:r>
          </a:p>
          <a:p>
            <a:r>
              <a:rPr lang="en-IN" sz="1200" noProof="0" dirty="0"/>
              <a:t>    result = </a:t>
            </a:r>
            <a:r>
              <a:rPr lang="en-IN" sz="1200" noProof="0" dirty="0" err="1"/>
              <a:t>llm.invoke</a:t>
            </a:r>
            <a:r>
              <a:rPr lang="en-IN" sz="1200" noProof="0" dirty="0"/>
              <a:t>(prompt)</a:t>
            </a:r>
          </a:p>
          <a:p>
            <a:r>
              <a:rPr lang="en-IN" sz="1200" noProof="0" dirty="0"/>
              <a:t>    return {"summary": </a:t>
            </a:r>
            <a:r>
              <a:rPr lang="en-IN" sz="1200" noProof="0" dirty="0" err="1"/>
              <a:t>result.content</a:t>
            </a:r>
            <a:r>
              <a:rPr lang="en-IN" sz="1200" noProof="0" dirty="0"/>
              <a:t>}</a:t>
            </a:r>
          </a:p>
          <a:p>
            <a:endParaRPr lang="en-IN" sz="1200" noProof="0" dirty="0"/>
          </a:p>
          <a:p>
            <a:r>
              <a:rPr lang="en-IN" sz="1200" noProof="0" dirty="0"/>
              <a:t># Build graph</a:t>
            </a:r>
          </a:p>
          <a:p>
            <a:r>
              <a:rPr lang="en-IN" sz="1200" noProof="0" dirty="0"/>
              <a:t>graph = Graph()</a:t>
            </a:r>
          </a:p>
          <a:p>
            <a:r>
              <a:rPr lang="en-IN" sz="1200" noProof="0" dirty="0" err="1"/>
              <a:t>graph.add_node</a:t>
            </a:r>
            <a:r>
              <a:rPr lang="en-IN" sz="1200" noProof="0" dirty="0"/>
              <a:t>("summarize", </a:t>
            </a:r>
            <a:r>
              <a:rPr lang="en-IN" sz="1200" noProof="0" dirty="0" err="1"/>
              <a:t>summarize_node</a:t>
            </a:r>
            <a:r>
              <a:rPr lang="en-IN" sz="1200" noProof="0" dirty="0"/>
              <a:t>)</a:t>
            </a:r>
          </a:p>
          <a:p>
            <a:r>
              <a:rPr lang="en-IN" sz="1200" noProof="0" dirty="0" err="1"/>
              <a:t>graph.set_entry_point</a:t>
            </a:r>
            <a:r>
              <a:rPr lang="en-IN" sz="1200" noProof="0" dirty="0"/>
              <a:t>("summarize")</a:t>
            </a:r>
          </a:p>
          <a:p>
            <a:r>
              <a:rPr lang="en-IN" sz="1200" noProof="0" dirty="0" err="1"/>
              <a:t>graph.add_edge</a:t>
            </a:r>
            <a:r>
              <a:rPr lang="en-IN" sz="1200" noProof="0" dirty="0"/>
              <a:t>("summarize", END)</a:t>
            </a:r>
          </a:p>
          <a:p>
            <a:endParaRPr lang="en-IN" sz="1200" noProof="0" dirty="0"/>
          </a:p>
          <a:p>
            <a:r>
              <a:rPr lang="en-IN" sz="1200" noProof="0" dirty="0"/>
              <a:t># Run</a:t>
            </a:r>
          </a:p>
          <a:p>
            <a:r>
              <a:rPr lang="en-IN" sz="1200" noProof="0" dirty="0"/>
              <a:t>result = </a:t>
            </a:r>
            <a:r>
              <a:rPr lang="en-IN" sz="1200" noProof="0" dirty="0" err="1"/>
              <a:t>graph.invoke</a:t>
            </a:r>
            <a:r>
              <a:rPr lang="en-IN" sz="1200" noProof="0" dirty="0"/>
              <a:t>({"text": "</a:t>
            </a:r>
            <a:r>
              <a:rPr lang="en-IN" sz="1200" noProof="0" dirty="0" err="1"/>
              <a:t>LangChain</a:t>
            </a:r>
            <a:r>
              <a:rPr lang="en-IN" sz="1200" noProof="0" dirty="0"/>
              <a:t> and </a:t>
            </a:r>
            <a:r>
              <a:rPr lang="en-IN" sz="1200" noProof="0" dirty="0" err="1"/>
              <a:t>LangGraph</a:t>
            </a:r>
            <a:r>
              <a:rPr lang="en-IN" sz="1200" noProof="0" dirty="0"/>
              <a:t> simplify how developers use LLMs."})</a:t>
            </a:r>
          </a:p>
          <a:p>
            <a:r>
              <a:rPr lang="en-IN" sz="1200" noProof="0" dirty="0"/>
              <a:t>print(result["summary"])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74D5C-7256-9F97-4901-0894D158923C}"/>
              </a:ext>
            </a:extLst>
          </p:cNvPr>
          <p:cNvSpPr txBox="1"/>
          <p:nvPr/>
        </p:nvSpPr>
        <p:spPr>
          <a:xfrm>
            <a:off x="736403" y="1333209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Object-Oriented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CB77ED-CBD9-556A-5ECD-6A4CF0601416}"/>
              </a:ext>
            </a:extLst>
          </p:cNvPr>
          <p:cNvSpPr txBox="1"/>
          <p:nvPr/>
        </p:nvSpPr>
        <p:spPr>
          <a:xfrm>
            <a:off x="4243058" y="1327283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 err="1"/>
              <a:t>LangChain</a:t>
            </a:r>
            <a:endParaRPr lang="en-IN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B14097-E18C-619A-2DBD-9933D05F9A65}"/>
              </a:ext>
            </a:extLst>
          </p:cNvPr>
          <p:cNvSpPr txBox="1"/>
          <p:nvPr/>
        </p:nvSpPr>
        <p:spPr>
          <a:xfrm>
            <a:off x="8162122" y="1324320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 err="1"/>
              <a:t>LangGraph</a:t>
            </a:r>
            <a:endParaRPr lang="en-IN" b="1" noProof="0" dirty="0"/>
          </a:p>
        </p:txBody>
      </p:sp>
    </p:spTree>
    <p:extLst>
      <p:ext uri="{BB962C8B-B14F-4D97-AF65-F5344CB8AC3E}">
        <p14:creationId xmlns:p14="http://schemas.microsoft.com/office/powerpoint/2010/main" val="3314853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E5783-760E-B634-3D2F-90CC5D4E1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43AC-5993-8ED8-DCB1-82A8BCDB2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LangChain</a:t>
            </a:r>
            <a:r>
              <a:rPr lang="en-IN" noProof="0" dirty="0"/>
              <a:t> and </a:t>
            </a:r>
            <a:r>
              <a:rPr lang="en-IN" noProof="0" dirty="0" err="1"/>
              <a:t>LangGraph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45C76-A51C-0AE6-DB39-A312458D3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 err="1"/>
              <a:t>LangChain</a:t>
            </a:r>
            <a:r>
              <a:rPr lang="en-IN" noProof="0" dirty="0"/>
              <a:t>: Framework to use LLMs as AI agents with access to external tools (APIs, databases, etc)</a:t>
            </a:r>
          </a:p>
          <a:p>
            <a:r>
              <a:rPr lang="en-IN" noProof="0" dirty="0"/>
              <a:t>Works well for </a:t>
            </a:r>
            <a:r>
              <a:rPr lang="en-IN" b="1" noProof="0" dirty="0"/>
              <a:t>single-step </a:t>
            </a:r>
            <a:r>
              <a:rPr lang="en-IN" noProof="0" dirty="0"/>
              <a:t>or simple </a:t>
            </a:r>
            <a:r>
              <a:rPr lang="en-IN" b="1" noProof="0" dirty="0"/>
              <a:t>request-response workflows</a:t>
            </a:r>
            <a:endParaRPr lang="en-IN" noProof="0" dirty="0"/>
          </a:p>
          <a:p>
            <a:r>
              <a:rPr lang="en-IN" noProof="0" dirty="0"/>
              <a:t>Not ideal for </a:t>
            </a:r>
            <a:r>
              <a:rPr lang="en-IN" b="1" noProof="0" dirty="0"/>
              <a:t>complex, multi-step, stateful workflows</a:t>
            </a:r>
            <a:r>
              <a:rPr lang="en-IN" noProof="0" dirty="0"/>
              <a:t> involving multiple agents or actors interacting over time</a:t>
            </a:r>
            <a:endParaRPr lang="en-IN" b="1" noProof="0" dirty="0"/>
          </a:p>
          <a:p>
            <a:r>
              <a:rPr lang="en-IN" noProof="0" dirty="0"/>
              <a:t>Solution: </a:t>
            </a:r>
            <a:r>
              <a:rPr lang="en-IN" b="1" noProof="0" dirty="0" err="1"/>
              <a:t>LangGraph</a:t>
            </a:r>
            <a:endParaRPr lang="en-IN" b="1" noProof="0" dirty="0"/>
          </a:p>
          <a:p>
            <a:r>
              <a:rPr lang="en-IN" b="1" noProof="0" dirty="0" err="1"/>
              <a:t>LangGraph</a:t>
            </a:r>
            <a:r>
              <a:rPr lang="en-IN" noProof="0" dirty="0"/>
              <a:t>: Designed for </a:t>
            </a:r>
            <a:r>
              <a:rPr lang="en-IN" b="1" noProof="0" dirty="0"/>
              <a:t>stateful</a:t>
            </a:r>
            <a:r>
              <a:rPr lang="en-IN" noProof="0" dirty="0"/>
              <a:t>, </a:t>
            </a:r>
            <a:r>
              <a:rPr lang="en-IN" b="1" noProof="0" dirty="0"/>
              <a:t>multi-actor applications </a:t>
            </a:r>
            <a:r>
              <a:rPr lang="en-IN" noProof="0" dirty="0"/>
              <a:t>with LLMs</a:t>
            </a:r>
          </a:p>
          <a:p>
            <a:r>
              <a:rPr lang="en-IN" noProof="0" dirty="0"/>
              <a:t>Allows building </a:t>
            </a:r>
            <a:r>
              <a:rPr lang="en-IN" b="1" noProof="0" dirty="0"/>
              <a:t>complex workflows</a:t>
            </a:r>
            <a:r>
              <a:rPr lang="en-IN" noProof="0" dirty="0"/>
              <a:t> where multiple agents collaborate, maintain memory, and handle dynamic execution</a:t>
            </a:r>
          </a:p>
        </p:txBody>
      </p:sp>
    </p:spTree>
    <p:extLst>
      <p:ext uri="{BB962C8B-B14F-4D97-AF65-F5344CB8AC3E}">
        <p14:creationId xmlns:p14="http://schemas.microsoft.com/office/powerpoint/2010/main" val="622326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62C42-D7A6-3955-158D-394FB16F8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98D0F-0697-A494-7718-238D86761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4254"/>
          </a:xfrm>
        </p:spPr>
        <p:txBody>
          <a:bodyPr>
            <a:normAutofit fontScale="90000"/>
          </a:bodyPr>
          <a:lstStyle/>
          <a:p>
            <a:r>
              <a:rPr lang="en-IN" noProof="0" dirty="0" err="1"/>
              <a:t>LangChain</a:t>
            </a:r>
            <a:r>
              <a:rPr lang="en-IN" noProof="0" dirty="0"/>
              <a:t> versus </a:t>
            </a:r>
            <a:r>
              <a:rPr lang="en-IN" noProof="0" dirty="0" err="1"/>
              <a:t>LangGraph</a:t>
            </a:r>
            <a:endParaRPr lang="en-IN" noProof="0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303E528-C456-D6E5-6A45-8AD2408F148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21380" y="823658"/>
          <a:ext cx="10323645" cy="560158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066125">
                  <a:extLst>
                    <a:ext uri="{9D8B030D-6E8A-4147-A177-3AD203B41FA5}">
                      <a16:colId xmlns:a16="http://schemas.microsoft.com/office/drawing/2014/main" val="2346622512"/>
                    </a:ext>
                  </a:extLst>
                </a:gridCol>
                <a:gridCol w="3999628">
                  <a:extLst>
                    <a:ext uri="{9D8B030D-6E8A-4147-A177-3AD203B41FA5}">
                      <a16:colId xmlns:a16="http://schemas.microsoft.com/office/drawing/2014/main" val="982790813"/>
                    </a:ext>
                  </a:extLst>
                </a:gridCol>
                <a:gridCol w="4257892">
                  <a:extLst>
                    <a:ext uri="{9D8B030D-6E8A-4147-A177-3AD203B41FA5}">
                      <a16:colId xmlns:a16="http://schemas.microsoft.com/office/drawing/2014/main" val="1860951309"/>
                    </a:ext>
                  </a:extLst>
                </a:gridCol>
              </a:tblGrid>
              <a:tr h="324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Aspect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 err="1"/>
                        <a:t>LangChain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 err="1"/>
                        <a:t>LangGraph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707437247"/>
                  </a:ext>
                </a:extLst>
              </a:tr>
              <a:tr h="810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Purpose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Use LLMs as agents with access to external tools (APIs, databases, etc.)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Build complex, stateful, multi-agent applications with LLMs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511167962"/>
                  </a:ext>
                </a:extLst>
              </a:tr>
              <a:tr h="56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Workflow type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Simple, single-step or short workflows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Complex, multi-step, long-running workflows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673393596"/>
                  </a:ext>
                </a:extLst>
              </a:tr>
              <a:tr h="56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Agents involved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Usually one agent handling requests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Multiple agents collaborating and interacting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219371625"/>
                  </a:ext>
                </a:extLst>
              </a:tr>
              <a:tr h="56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State management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Minimal or stateless; memory handled externally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Built-in memory/state tracking across interactions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081419289"/>
                  </a:ext>
                </a:extLst>
              </a:tr>
              <a:tr h="810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Dynamic execution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Limited; follows predefined steps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Supports dynamic branching, agent coordination, and runtime decisions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4125623054"/>
                  </a:ext>
                </a:extLst>
              </a:tr>
              <a:tr h="56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Best for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Chatbots, calculators, document queries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Automation systems, multi-agent orchestration, AI workflows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539083421"/>
                  </a:ext>
                </a:extLst>
              </a:tr>
              <a:tr h="56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Learning curve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Easier; basic LLM + tools interface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Steeper; requires understanding of agents, state, and coordination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3449461024"/>
                  </a:ext>
                </a:extLst>
              </a:tr>
              <a:tr h="56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Relationship</a:t>
                      </a:r>
                      <a:endParaRPr lang="en-IN" sz="1800" noProof="0" dirty="0"/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Foundational concepts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Builds on and extends </a:t>
                      </a:r>
                      <a:r>
                        <a:rPr lang="en-IN" sz="1800" noProof="0" dirty="0" err="1"/>
                        <a:t>LangChain</a:t>
                      </a:r>
                      <a:r>
                        <a:rPr lang="en-IN" sz="1800" noProof="0" dirty="0"/>
                        <a:t> principles</a:t>
                      </a:r>
                    </a:p>
                  </a:txBody>
                  <a:tcPr marL="65929" marR="65929" marT="32965" marB="32965" anchor="ctr"/>
                </a:tc>
                <a:extLst>
                  <a:ext uri="{0D108BD9-81ED-4DB2-BD59-A6C34878D82A}">
                    <a16:rowId xmlns:a16="http://schemas.microsoft.com/office/drawing/2014/main" val="1070771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469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3D703-6E19-8FBC-9BD2-EF7DFFADD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3D721-80DB-A4D9-A42C-8A20B514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LangGraph</a:t>
            </a:r>
            <a:r>
              <a:rPr lang="en-IN" noProof="0" dirty="0"/>
              <a:t>: </a:t>
            </a:r>
            <a:br>
              <a:rPr lang="en-IN" noProof="0" dirty="0"/>
            </a:br>
            <a:r>
              <a:rPr lang="en-IN" noProof="0" dirty="0"/>
              <a:t>Key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9E709-C9B5-A166-56AF-B76B022B8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E164C3-67EF-F87D-8F4B-E47071DBC200}"/>
              </a:ext>
            </a:extLst>
          </p:cNvPr>
          <p:cNvSpPr txBox="1"/>
          <p:nvPr/>
        </p:nvSpPr>
        <p:spPr>
          <a:xfrm>
            <a:off x="2242473" y="5375391"/>
            <a:ext cx="3629098" cy="92333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>
                <a:solidFill>
                  <a:schemeClr val="bg1"/>
                </a:solidFill>
              </a:rPr>
              <a:t>Data structure that describes the information flowing through the graph at each stage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17A50-29C9-8511-C8E3-B87C7C526914}"/>
              </a:ext>
            </a:extLst>
          </p:cNvPr>
          <p:cNvSpPr txBox="1"/>
          <p:nvPr/>
        </p:nvSpPr>
        <p:spPr>
          <a:xfrm>
            <a:off x="2269132" y="2258311"/>
            <a:ext cx="3629098" cy="92333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>
                <a:solidFill>
                  <a:schemeClr val="bg1"/>
                </a:solidFill>
              </a:rPr>
              <a:t>Step or operation in the graph – Takes an input state and produces an output state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6E926-85D9-FC16-9E86-D78290A7A364}"/>
              </a:ext>
            </a:extLst>
          </p:cNvPr>
          <p:cNvSpPr txBox="1"/>
          <p:nvPr/>
        </p:nvSpPr>
        <p:spPr>
          <a:xfrm>
            <a:off x="2269132" y="4121410"/>
            <a:ext cx="3629098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>
                <a:solidFill>
                  <a:schemeClr val="bg1"/>
                </a:solidFill>
              </a:rPr>
              <a:t>Connects two nodes and decides how information flows through them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3DD474-090A-F881-C9C9-3A3C09399BBE}"/>
              </a:ext>
            </a:extLst>
          </p:cNvPr>
          <p:cNvSpPr txBox="1"/>
          <p:nvPr/>
        </p:nvSpPr>
        <p:spPr>
          <a:xfrm>
            <a:off x="5871571" y="423490"/>
            <a:ext cx="3629098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>
                <a:solidFill>
                  <a:schemeClr val="bg1"/>
                </a:solidFill>
              </a:rPr>
              <a:t>The overall structure that organizes nodes and edges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6C80D0-CE97-8D71-EFE3-C2B43EC2C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873" y="1195935"/>
            <a:ext cx="3312495" cy="539332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D9B548EF-589E-DC04-C7E0-608E3985A153}"/>
              </a:ext>
            </a:extLst>
          </p:cNvPr>
          <p:cNvSpPr/>
          <p:nvPr/>
        </p:nvSpPr>
        <p:spPr>
          <a:xfrm>
            <a:off x="1024295" y="2443048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Node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38CF3B4-29BD-B289-F395-AF709CB2C470}"/>
              </a:ext>
            </a:extLst>
          </p:cNvPr>
          <p:cNvSpPr/>
          <p:nvPr/>
        </p:nvSpPr>
        <p:spPr>
          <a:xfrm>
            <a:off x="1024295" y="4174428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Edge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58EDEA-1E5C-6465-3D4D-81D933BF5887}"/>
              </a:ext>
            </a:extLst>
          </p:cNvPr>
          <p:cNvSpPr/>
          <p:nvPr/>
        </p:nvSpPr>
        <p:spPr>
          <a:xfrm>
            <a:off x="9619807" y="434593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Graph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8151AD-D564-9BF3-31AD-56AC5D3A5760}"/>
              </a:ext>
            </a:extLst>
          </p:cNvPr>
          <p:cNvSpPr/>
          <p:nvPr/>
        </p:nvSpPr>
        <p:spPr>
          <a:xfrm>
            <a:off x="1035396" y="5540399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noProof="0" dirty="0">
                <a:solidFill>
                  <a:srgbClr val="FF0000"/>
                </a:solidFill>
              </a:rPr>
              <a:t>State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A2205B-1530-2A89-ADFC-BC7726C64C8A}"/>
              </a:ext>
            </a:extLst>
          </p:cNvPr>
          <p:cNvCxnSpPr/>
          <p:nvPr/>
        </p:nvCxnSpPr>
        <p:spPr>
          <a:xfrm>
            <a:off x="5947091" y="5772581"/>
            <a:ext cx="1347169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0CCB02A-8881-0160-9F83-48A7B89F1939}"/>
              </a:ext>
            </a:extLst>
          </p:cNvPr>
          <p:cNvSpPr txBox="1"/>
          <p:nvPr/>
        </p:nvSpPr>
        <p:spPr>
          <a:xfrm>
            <a:off x="8187720" y="5464598"/>
            <a:ext cx="928361" cy="646331"/>
          </a:xfrm>
          <a:prstGeom prst="rect">
            <a:avLst/>
          </a:prstGeom>
          <a:gradFill>
            <a:gsLst>
              <a:gs pos="0">
                <a:srgbClr val="FFFF0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IN" noProof="0" dirty="0"/>
              <a:t>Final balance</a:t>
            </a:r>
          </a:p>
        </p:txBody>
      </p:sp>
    </p:spTree>
    <p:extLst>
      <p:ext uri="{BB962C8B-B14F-4D97-AF65-F5344CB8AC3E}">
        <p14:creationId xmlns:p14="http://schemas.microsoft.com/office/powerpoint/2010/main" val="3397234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E631A-5B43-426A-4481-A91BA2DE3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837D-9543-B95F-D9A8-C2ABD6B7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noProof="0" dirty="0"/>
              <a:t>First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Application </a:t>
            </a:r>
            <a:r>
              <a:rPr lang="en-IN" sz="3200" noProof="0" dirty="0"/>
              <a:t>(C:\code\</a:t>
            </a:r>
            <a:r>
              <a:rPr lang="en-IN" sz="3200" noProof="0" dirty="0" err="1"/>
              <a:t>agenticai</a:t>
            </a:r>
            <a:r>
              <a:rPr lang="en-IN" sz="3200" noProof="0" dirty="0"/>
              <a:t>\3_langgraph\3_1_langgraph_basic.py)</a:t>
            </a:r>
            <a:endParaRPr lang="en-IN" sz="3600" noProof="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BA39C2E-21FA-04A5-51F0-156EE364917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72586" y="1837794"/>
          <a:ext cx="5884269" cy="2164080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430932">
                  <a:extLst>
                    <a:ext uri="{9D8B030D-6E8A-4147-A177-3AD203B41FA5}">
                      <a16:colId xmlns:a16="http://schemas.microsoft.com/office/drawing/2014/main" val="2390569819"/>
                    </a:ext>
                  </a:extLst>
                </a:gridCol>
                <a:gridCol w="4453337">
                  <a:extLst>
                    <a:ext uri="{9D8B030D-6E8A-4147-A177-3AD203B41FA5}">
                      <a16:colId xmlns:a16="http://schemas.microsoft.com/office/drawing/2014/main" val="3223538110"/>
                    </a:ext>
                  </a:extLst>
                </a:gridCol>
              </a:tblGrid>
              <a:tr h="172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Class / 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13162"/>
                  </a:ext>
                </a:extLst>
              </a:tr>
              <a:tr h="301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 err="1"/>
                        <a:t>StateGraph</a:t>
                      </a:r>
                      <a:endParaRPr lang="en-IN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The main class for building graphs in </a:t>
                      </a:r>
                      <a:r>
                        <a:rPr lang="en-IN" sz="1400" noProof="0" dirty="0" err="1"/>
                        <a:t>LangGraph</a:t>
                      </a:r>
                      <a:endParaRPr lang="en-IN" sz="14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452833"/>
                  </a:ext>
                </a:extLst>
              </a:tr>
              <a:tr h="430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START / END</a:t>
                      </a:r>
                      <a:endParaRPr lang="en-IN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Special constants representing entry and exit points of the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4298840"/>
                  </a:ext>
                </a:extLst>
              </a:tr>
              <a:tr h="430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 err="1"/>
                        <a:t>ChatOpenAI</a:t>
                      </a:r>
                      <a:endParaRPr lang="en-IN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The OpenAI integration from </a:t>
                      </a:r>
                      <a:r>
                        <a:rPr lang="en-IN" sz="1400" noProof="0" dirty="0" err="1"/>
                        <a:t>LangChain</a:t>
                      </a:r>
                      <a:r>
                        <a:rPr lang="en-IN" sz="1400" noProof="0" dirty="0"/>
                        <a:t>, used for connecting language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70750"/>
                  </a:ext>
                </a:extLst>
              </a:tr>
              <a:tr h="430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 err="1"/>
                        <a:t>TypedDict</a:t>
                      </a:r>
                      <a:endParaRPr lang="en-IN" sz="14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Used to define the structure and types of data that flows through the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623594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A50B62-FCEB-47AB-2A9F-A11A867AC038}"/>
              </a:ext>
            </a:extLst>
          </p:cNvPr>
          <p:cNvSpPr txBox="1"/>
          <p:nvPr/>
        </p:nvSpPr>
        <p:spPr>
          <a:xfrm>
            <a:off x="169854" y="2394193"/>
            <a:ext cx="5517809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langgraph.graph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, START, END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langchain_openai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ChatOpenAI</a:t>
            </a:r>
            <a:endParaRPr lang="en-IN" sz="14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typing import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endParaRPr lang="en-IN" sz="14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DED3AF-2217-4A8D-6B65-92820AFA4A0B}"/>
              </a:ext>
            </a:extLst>
          </p:cNvPr>
          <p:cNvSpPr txBox="1"/>
          <p:nvPr/>
        </p:nvSpPr>
        <p:spPr>
          <a:xfrm>
            <a:off x="169853" y="4612718"/>
            <a:ext cx="5517809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 str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greeting: str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messages: list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2C7F87-A376-7B1B-4A15-1C2AF6E56FF9}"/>
              </a:ext>
            </a:extLst>
          </p:cNvPr>
          <p:cNvSpPr txBox="1"/>
          <p:nvPr/>
        </p:nvSpPr>
        <p:spPr>
          <a:xfrm>
            <a:off x="5772585" y="4292794"/>
            <a:ext cx="5884269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 err="1"/>
              <a:t>LangGraph</a:t>
            </a:r>
            <a:r>
              <a:rPr lang="en-IN" noProof="0" dirty="0"/>
              <a:t> uses a </a:t>
            </a:r>
            <a:r>
              <a:rPr lang="en-IN" noProof="0" dirty="0">
                <a:solidFill>
                  <a:srgbClr val="FF0000"/>
                </a:solidFill>
              </a:rPr>
              <a:t>state-based architecture</a:t>
            </a:r>
            <a:r>
              <a:rPr lang="en-IN" noProof="0" dirty="0"/>
              <a:t>. Instead of passing data between individual nodes, all data flows through a shared "state" object. Think of it like a shared clipboard that each step can read from and write to.</a:t>
            </a:r>
          </a:p>
          <a:p>
            <a:endParaRPr lang="en-IN" noProof="0" dirty="0"/>
          </a:p>
          <a:p>
            <a:r>
              <a:rPr lang="en-IN" noProof="0" dirty="0" err="1"/>
              <a:t>user_name</a:t>
            </a:r>
            <a:r>
              <a:rPr lang="en-IN" noProof="0" dirty="0"/>
              <a:t>: Stores the user's name</a:t>
            </a:r>
          </a:p>
          <a:p>
            <a:r>
              <a:rPr lang="en-IN" noProof="0" dirty="0"/>
              <a:t>greeting: Stores the generated greeting message</a:t>
            </a:r>
          </a:p>
          <a:p>
            <a:r>
              <a:rPr lang="en-IN" noProof="0" dirty="0"/>
              <a:t>messages: Keeps a log of the conversation</a:t>
            </a:r>
          </a:p>
        </p:txBody>
      </p:sp>
    </p:spTree>
    <p:extLst>
      <p:ext uri="{BB962C8B-B14F-4D97-AF65-F5344CB8AC3E}">
        <p14:creationId xmlns:p14="http://schemas.microsoft.com/office/powerpoint/2010/main" val="2976976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F97C8-03AB-FB3C-C9AB-1E316F66E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CD07-A8D9-FE15-5093-C76EF6E6C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noProof="0" dirty="0"/>
              <a:t>First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Application </a:t>
            </a:r>
            <a:r>
              <a:rPr lang="en-IN" sz="3200" noProof="0" dirty="0"/>
              <a:t>(C:\code\</a:t>
            </a:r>
            <a:r>
              <a:rPr lang="en-IN" sz="3200" noProof="0" dirty="0" err="1"/>
              <a:t>agentic_ai</a:t>
            </a:r>
            <a:r>
              <a:rPr lang="en-IN" sz="3200" noProof="0" dirty="0"/>
              <a:t>\3_langgraph\3_1_langgraph_basic.py)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6FCB7-9E58-A72C-79A1-C5FF565A77B0}"/>
              </a:ext>
            </a:extLst>
          </p:cNvPr>
          <p:cNvSpPr txBox="1"/>
          <p:nvPr/>
        </p:nvSpPr>
        <p:spPr>
          <a:xfrm>
            <a:off x="190795" y="1620062"/>
            <a:ext cx="5517809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(state: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 -&gt;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input("Bot: What is your name? ")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{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**state,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":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"messages":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("messages", []) + [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provided name: {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user_input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}"]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599F19-92AF-D6E3-7DD0-D0A668D11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613B6-D2B8-B63F-B45C-4575566157D8}"/>
              </a:ext>
            </a:extLst>
          </p:cNvPr>
          <p:cNvSpPr txBox="1"/>
          <p:nvPr/>
        </p:nvSpPr>
        <p:spPr>
          <a:xfrm>
            <a:off x="5765607" y="1777706"/>
            <a:ext cx="5465460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Node function 1</a:t>
            </a:r>
          </a:p>
          <a:p>
            <a:r>
              <a:rPr lang="en-IN" noProof="0" dirty="0"/>
              <a:t>Takes the current state as input</a:t>
            </a:r>
          </a:p>
          <a:p>
            <a:r>
              <a:rPr lang="en-IN" noProof="0" dirty="0"/>
              <a:t>Asks user for their name</a:t>
            </a:r>
          </a:p>
          <a:p>
            <a:r>
              <a:rPr lang="en-IN" noProof="0" dirty="0"/>
              <a:t>Returns a </a:t>
            </a:r>
            <a:r>
              <a:rPr lang="en-IN" b="1" noProof="0" dirty="0"/>
              <a:t>new state </a:t>
            </a:r>
            <a:r>
              <a:rPr lang="en-IN" noProof="0" dirty="0"/>
              <a:t>with updated information</a:t>
            </a:r>
          </a:p>
          <a:p>
            <a:pPr lvl="1"/>
            <a:r>
              <a:rPr lang="en-IN" noProof="0" dirty="0"/>
              <a:t>**state copies all existing state data</a:t>
            </a:r>
          </a:p>
          <a:p>
            <a:pPr lvl="1"/>
            <a:r>
              <a:rPr lang="en-IN" noProof="0" dirty="0"/>
              <a:t>Updates specific fields (</a:t>
            </a:r>
            <a:r>
              <a:rPr lang="en-IN" noProof="0" dirty="0" err="1"/>
              <a:t>user_name</a:t>
            </a:r>
            <a:r>
              <a:rPr lang="en-IN" noProof="0" dirty="0"/>
              <a:t>, messages)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E4F228-FA84-C6B3-20A3-4E31686A436A}"/>
              </a:ext>
            </a:extLst>
          </p:cNvPr>
          <p:cNvSpPr txBox="1"/>
          <p:nvPr/>
        </p:nvSpPr>
        <p:spPr>
          <a:xfrm>
            <a:off x="190795" y="3963130"/>
            <a:ext cx="5517809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(state: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 -&gt;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"there")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f"Hello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{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}! Nice to meet you."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{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**state,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"greeting": greeting,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"messages":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state.get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("messages", []) + [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f"Bot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: {greeting}"]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0D6CD-F29D-1F36-0754-A4694BF42FCB}"/>
              </a:ext>
            </a:extLst>
          </p:cNvPr>
          <p:cNvSpPr txBox="1"/>
          <p:nvPr/>
        </p:nvSpPr>
        <p:spPr>
          <a:xfrm>
            <a:off x="5765607" y="4120774"/>
            <a:ext cx="546546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Node function 2</a:t>
            </a:r>
          </a:p>
          <a:p>
            <a:r>
              <a:rPr lang="en-IN" noProof="0" dirty="0"/>
              <a:t>Reads </a:t>
            </a:r>
            <a:r>
              <a:rPr lang="en-IN" noProof="0" dirty="0" err="1"/>
              <a:t>user_name</a:t>
            </a:r>
            <a:r>
              <a:rPr lang="en-IN" noProof="0" dirty="0"/>
              <a:t> from the current state</a:t>
            </a:r>
          </a:p>
          <a:p>
            <a:r>
              <a:rPr lang="en-IN" noProof="0" dirty="0"/>
              <a:t>Creates a personalized greeting</a:t>
            </a:r>
          </a:p>
          <a:p>
            <a:r>
              <a:rPr lang="en-IN" noProof="0" dirty="0"/>
              <a:t>Updates state with the greeting and conversation log</a:t>
            </a:r>
          </a:p>
        </p:txBody>
      </p:sp>
    </p:spTree>
    <p:extLst>
      <p:ext uri="{BB962C8B-B14F-4D97-AF65-F5344CB8AC3E}">
        <p14:creationId xmlns:p14="http://schemas.microsoft.com/office/powerpoint/2010/main" val="3454714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2E51B-37AA-5180-D724-E4F292179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7C13C-8BC4-63BD-D6C8-39CF66168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noProof="0" dirty="0"/>
              <a:t>First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Application </a:t>
            </a:r>
            <a:r>
              <a:rPr lang="en-IN" sz="3200" noProof="0" dirty="0"/>
              <a:t>(C:\code\</a:t>
            </a:r>
            <a:r>
              <a:rPr lang="en-IN" sz="3200" noProof="0" dirty="0" err="1"/>
              <a:t>agentic_ai</a:t>
            </a:r>
            <a:r>
              <a:rPr lang="en-IN" sz="3200" noProof="0" dirty="0"/>
              <a:t>\3_langgraph\3_1_langgraph_basic.py)</a:t>
            </a:r>
            <a:endParaRPr lang="en-IN" sz="36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513CF-2D97-CDF7-6855-4605877419D8}"/>
              </a:ext>
            </a:extLst>
          </p:cNvPr>
          <p:cNvSpPr txBox="1"/>
          <p:nvPr/>
        </p:nvSpPr>
        <p:spPr>
          <a:xfrm>
            <a:off x="190795" y="2117194"/>
            <a:ext cx="5517809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create_greeting_graph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():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workflow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StateGraph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Add nodes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greet_user_node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 Add edges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(START, 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ask_name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workflow.add_edge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greet_user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", END)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return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workflow.compile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32E842-61DC-B04E-DBC6-B84DF1937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F69CA-261C-0AF3-E4F7-232A6DFB0EFC}"/>
              </a:ext>
            </a:extLst>
          </p:cNvPr>
          <p:cNvSpPr txBox="1"/>
          <p:nvPr/>
        </p:nvSpPr>
        <p:spPr>
          <a:xfrm>
            <a:off x="5765607" y="2274838"/>
            <a:ext cx="5465460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Graph Construction</a:t>
            </a:r>
          </a:p>
          <a:p>
            <a:r>
              <a:rPr lang="en-IN" noProof="0" dirty="0"/>
              <a:t>Structure: START → </a:t>
            </a:r>
            <a:r>
              <a:rPr lang="en-IN" noProof="0" dirty="0" err="1"/>
              <a:t>ask_name</a:t>
            </a:r>
            <a:r>
              <a:rPr lang="en-IN" noProof="0" dirty="0"/>
              <a:t> → </a:t>
            </a:r>
            <a:r>
              <a:rPr lang="en-IN" noProof="0" dirty="0" err="1"/>
              <a:t>greet_user</a:t>
            </a:r>
            <a:r>
              <a:rPr lang="en-IN" noProof="0" dirty="0"/>
              <a:t> → END</a:t>
            </a:r>
          </a:p>
          <a:p>
            <a:endParaRPr lang="en-IN" noProof="0" dirty="0"/>
          </a:p>
          <a:p>
            <a:r>
              <a:rPr lang="en-IN" noProof="0" dirty="0"/>
              <a:t>Nodes represent processing steps (functions)</a:t>
            </a:r>
          </a:p>
          <a:p>
            <a:r>
              <a:rPr lang="en-IN" noProof="0" dirty="0"/>
              <a:t>Edges define the flow between steps</a:t>
            </a:r>
          </a:p>
          <a:p>
            <a:r>
              <a:rPr lang="en-IN" noProof="0" dirty="0"/>
              <a:t>START is where execution begins</a:t>
            </a:r>
          </a:p>
          <a:p>
            <a:r>
              <a:rPr lang="en-IN" noProof="0" dirty="0"/>
              <a:t>END is where execution terminates</a:t>
            </a:r>
          </a:p>
          <a:p>
            <a:r>
              <a:rPr lang="en-IN" noProof="0" dirty="0"/>
              <a:t>.compile() creates the executable graph</a:t>
            </a:r>
          </a:p>
        </p:txBody>
      </p:sp>
    </p:spTree>
    <p:extLst>
      <p:ext uri="{BB962C8B-B14F-4D97-AF65-F5344CB8AC3E}">
        <p14:creationId xmlns:p14="http://schemas.microsoft.com/office/powerpoint/2010/main" val="3399171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451D4-2F6A-77AD-905D-BEFEF3B0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79CF-B612-A7E2-B853-DBEACF05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noProof="0" dirty="0"/>
              <a:t>First </a:t>
            </a:r>
            <a:r>
              <a:rPr lang="en-IN" sz="3600" noProof="0" dirty="0" err="1"/>
              <a:t>LangGraph</a:t>
            </a:r>
            <a:r>
              <a:rPr lang="en-IN" sz="3600" noProof="0" dirty="0"/>
              <a:t> Application </a:t>
            </a:r>
            <a:r>
              <a:rPr lang="en-IN" sz="3200" noProof="0" dirty="0"/>
              <a:t>(C:\code\</a:t>
            </a:r>
            <a:r>
              <a:rPr lang="en-IN" sz="3200" noProof="0" dirty="0" err="1"/>
              <a:t>agentic_ai</a:t>
            </a:r>
            <a:r>
              <a:rPr lang="en-IN" sz="3200" noProof="0" dirty="0"/>
              <a:t>\3_langgraph\3_1_langgraph_basic.py)</a:t>
            </a:r>
            <a:endParaRPr lang="en-IN" sz="36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E9372-AA0E-3103-FFDF-5F8F162FFB9C}"/>
              </a:ext>
            </a:extLst>
          </p:cNvPr>
          <p:cNvSpPr txBox="1"/>
          <p:nvPr/>
        </p:nvSpPr>
        <p:spPr>
          <a:xfrm>
            <a:off x="190795" y="2117194"/>
            <a:ext cx="5517809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Create the graph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app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create_greeting_graph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endParaRPr lang="en-IN" sz="14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Initialize state</a:t>
            </a:r>
          </a:p>
          <a:p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initial_state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GraphState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user_name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="",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greeting="",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messages=[]</a:t>
            </a: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IN" sz="14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Run the graph</a:t>
            </a:r>
          </a:p>
          <a:p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final_state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app.invoke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sz="14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initial_state</a:t>
            </a:r>
            <a:r>
              <a:rPr lang="en-IN" sz="14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D23DBD-02DA-F510-EED2-6B0E42F06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BAD3E-0C4D-7571-BFDC-8E177148902C}"/>
              </a:ext>
            </a:extLst>
          </p:cNvPr>
          <p:cNvSpPr txBox="1"/>
          <p:nvPr/>
        </p:nvSpPr>
        <p:spPr>
          <a:xfrm>
            <a:off x="5765607" y="2274838"/>
            <a:ext cx="5465460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Execution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Initialize: Create empty state</a:t>
            </a:r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Invoke: Start execution at START node</a:t>
            </a:r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Flow: State passes through: </a:t>
            </a:r>
            <a:r>
              <a:rPr lang="en-IN" noProof="0" dirty="0" err="1"/>
              <a:t>ask_name</a:t>
            </a:r>
            <a:r>
              <a:rPr lang="en-IN" noProof="0" dirty="0"/>
              <a:t> → </a:t>
            </a:r>
            <a:r>
              <a:rPr lang="en-IN" noProof="0" dirty="0" err="1"/>
              <a:t>greet_user</a:t>
            </a:r>
            <a:endParaRPr lang="en-IN" noProof="0" dirty="0"/>
          </a:p>
          <a:p>
            <a:pPr marL="342900" indent="-342900">
              <a:buFont typeface="+mj-lt"/>
              <a:buAutoNum type="arabicPeriod"/>
            </a:pPr>
            <a:r>
              <a:rPr lang="en-IN" noProof="0" dirty="0"/>
              <a:t>Result: Get final state with all accumulated data</a:t>
            </a:r>
          </a:p>
        </p:txBody>
      </p:sp>
    </p:spTree>
    <p:extLst>
      <p:ext uri="{BB962C8B-B14F-4D97-AF65-F5344CB8AC3E}">
        <p14:creationId xmlns:p14="http://schemas.microsoft.com/office/powerpoint/2010/main" val="4052565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4A87-E25A-179D-0286-94DEA4974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TypeDict</a:t>
            </a:r>
            <a:r>
              <a:rPr lang="en-IN" noProof="0" dirty="0"/>
              <a:t> Versus </a:t>
            </a:r>
            <a:r>
              <a:rPr lang="en-IN" noProof="0" dirty="0" err="1"/>
              <a:t>Pydantic</a:t>
            </a:r>
            <a:r>
              <a:rPr lang="en-IN" noProof="0" dirty="0"/>
              <a:t> </a:t>
            </a:r>
            <a:r>
              <a:rPr lang="en-IN" noProof="0" dirty="0" err="1"/>
              <a:t>BaseModel</a:t>
            </a:r>
            <a:endParaRPr lang="en-IN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104766-FAF9-8602-4C25-59E2125B787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56134" y="1797374"/>
          <a:ext cx="11007702" cy="4365462"/>
        </p:xfrm>
        <a:graphic>
          <a:graphicData uri="http://schemas.openxmlformats.org/drawingml/2006/table">
            <a:tbl>
              <a:tblPr/>
              <a:tblGrid>
                <a:gridCol w="2701319">
                  <a:extLst>
                    <a:ext uri="{9D8B030D-6E8A-4147-A177-3AD203B41FA5}">
                      <a16:colId xmlns:a16="http://schemas.microsoft.com/office/drawing/2014/main" val="3279650136"/>
                    </a:ext>
                  </a:extLst>
                </a:gridCol>
                <a:gridCol w="3839084">
                  <a:extLst>
                    <a:ext uri="{9D8B030D-6E8A-4147-A177-3AD203B41FA5}">
                      <a16:colId xmlns:a16="http://schemas.microsoft.com/office/drawing/2014/main" val="3292290708"/>
                    </a:ext>
                  </a:extLst>
                </a:gridCol>
                <a:gridCol w="4467299">
                  <a:extLst>
                    <a:ext uri="{9D8B030D-6E8A-4147-A177-3AD203B41FA5}">
                      <a16:colId xmlns:a16="http://schemas.microsoft.com/office/drawing/2014/main" val="3496014412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Feature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 err="1">
                          <a:latin typeface="Courier New" panose="02070309020205020404" pitchFamily="49" charset="0"/>
                        </a:rPr>
                        <a:t>TypedDict</a:t>
                      </a:r>
                      <a:r>
                        <a:rPr lang="en-IN" sz="1500" b="1" noProof="0" dirty="0"/>
                        <a:t> (from </a:t>
                      </a:r>
                      <a:r>
                        <a:rPr lang="en-IN" sz="1500" b="1" noProof="0" dirty="0">
                          <a:latin typeface="Courier New" panose="02070309020205020404" pitchFamily="49" charset="0"/>
                        </a:rPr>
                        <a:t>typing</a:t>
                      </a:r>
                      <a:r>
                        <a:rPr lang="en-IN" sz="1500" b="1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 err="1">
                          <a:latin typeface="Courier New" panose="02070309020205020404" pitchFamily="49" charset="0"/>
                        </a:rPr>
                        <a:t>Pydantic</a:t>
                      </a:r>
                      <a:r>
                        <a:rPr lang="en-IN" sz="1500" b="1" noProof="0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IN" sz="1500" b="1" noProof="0" dirty="0" err="1">
                          <a:latin typeface="Courier New" panose="02070309020205020404" pitchFamily="49" charset="0"/>
                        </a:rPr>
                        <a:t>BaseModel</a:t>
                      </a:r>
                      <a:endParaRPr lang="en-IN" sz="1500" b="1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71207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Purpose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Type hinting for dictionaries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Data validation and parsing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77671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Runtime </a:t>
                      </a:r>
                      <a:r>
                        <a:rPr lang="en-IN" sz="1500" b="1" noProof="0" dirty="0" err="1"/>
                        <a:t>behavior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Static type only (checked by linters/</a:t>
                      </a:r>
                      <a:r>
                        <a:rPr lang="en-IN" sz="1500" noProof="0" dirty="0" err="1"/>
                        <a:t>myPy</a:t>
                      </a:r>
                      <a:r>
                        <a:rPr lang="en-IN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Enforced at runtime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295367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Validation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None (no type enforcement at runtime)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Automatic type conversion and validation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014805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Default values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Not supported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Supported via field defaults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84393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Field aliasing &amp; renaming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No support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Supported (</a:t>
                      </a:r>
                      <a:r>
                        <a:rPr lang="en-IN" sz="1500" noProof="0" dirty="0">
                          <a:latin typeface="Courier New" panose="02070309020205020404" pitchFamily="49" charset="0"/>
                        </a:rPr>
                        <a:t>Field(..., alias="...")</a:t>
                      </a:r>
                      <a:r>
                        <a:rPr lang="en-IN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33899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Nested models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Manual nesting (just </a:t>
                      </a:r>
                      <a:r>
                        <a:rPr lang="en-IN" sz="1500" noProof="0" dirty="0" err="1"/>
                        <a:t>dicts</a:t>
                      </a:r>
                      <a:r>
                        <a:rPr lang="en-IN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Fully supported (</a:t>
                      </a:r>
                      <a:r>
                        <a:rPr lang="en-IN" sz="1500" noProof="0" dirty="0" err="1"/>
                        <a:t>BaseModel</a:t>
                      </a:r>
                      <a:r>
                        <a:rPr lang="en-IN" sz="1500" noProof="0" dirty="0"/>
                        <a:t> inside </a:t>
                      </a:r>
                      <a:r>
                        <a:rPr lang="en-IN" sz="1500" noProof="0" dirty="0" err="1"/>
                        <a:t>BaseModel</a:t>
                      </a:r>
                      <a:r>
                        <a:rPr lang="en-IN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934281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Serialization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Just a </a:t>
                      </a:r>
                      <a:r>
                        <a:rPr lang="en-IN" sz="1500" noProof="0" dirty="0" err="1"/>
                        <a:t>dict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IN" sz="1500" noProof="0" dirty="0" err="1">
                          <a:latin typeface="Courier New" panose="02070309020205020404" pitchFamily="49" charset="0"/>
                        </a:rPr>
                        <a:t>dict</a:t>
                      </a:r>
                      <a:r>
                        <a:rPr lang="en-IN" sz="15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IN" sz="1500" noProof="0" dirty="0"/>
                        <a:t>, </a:t>
                      </a:r>
                      <a:r>
                        <a:rPr lang="en-IN" sz="15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IN" sz="1500" noProof="0" dirty="0" err="1">
                          <a:latin typeface="Courier New" panose="02070309020205020404" pitchFamily="49" charset="0"/>
                        </a:rPr>
                        <a:t>json</a:t>
                      </a:r>
                      <a:r>
                        <a:rPr lang="en-IN" sz="15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IN" sz="1500" noProof="0" dirty="0"/>
                        <a:t>, </a:t>
                      </a:r>
                      <a:r>
                        <a:rPr lang="en-IN" sz="15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IN" sz="1500" noProof="0" dirty="0" err="1">
                          <a:latin typeface="Courier New" panose="02070309020205020404" pitchFamily="49" charset="0"/>
                        </a:rPr>
                        <a:t>model_dump</a:t>
                      </a:r>
                      <a:r>
                        <a:rPr lang="en-IN" sz="15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IN" sz="1500" noProof="0" dirty="0"/>
                        <a:t> methods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907911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Performance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Faster (no runtime checks)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Slower due to validation logic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922882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noProof="0" dirty="0"/>
                        <a:t>Use case</a:t>
                      </a:r>
                      <a:endParaRPr lang="en-IN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When we just need structured typing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noProof="0" dirty="0"/>
                        <a:t>When we need validation, coercion, or API inputs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601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8908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171E9-503E-0E92-B236-1AF2053CC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TypeDict</a:t>
            </a:r>
            <a:r>
              <a:rPr lang="en-IN" noProof="0" dirty="0"/>
              <a:t> Versus </a:t>
            </a:r>
            <a:r>
              <a:rPr lang="en-IN" noProof="0" dirty="0" err="1"/>
              <a:t>Pydantic</a:t>
            </a:r>
            <a:r>
              <a:rPr lang="en-IN" noProof="0" dirty="0"/>
              <a:t> </a:t>
            </a:r>
            <a:r>
              <a:rPr lang="en-IN" noProof="0" dirty="0" err="1"/>
              <a:t>BaseModel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E2258-9909-0C87-37A0-1D33C81B3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42DF69-5E7E-C347-F9AE-4CB6D92B784F}"/>
              </a:ext>
            </a:extLst>
          </p:cNvPr>
          <p:cNvSpPr txBox="1"/>
          <p:nvPr/>
        </p:nvSpPr>
        <p:spPr>
          <a:xfrm>
            <a:off x="349008" y="2076911"/>
            <a:ext cx="5660904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typing import </a:t>
            </a:r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endParaRPr lang="en-IN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IN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User(</a:t>
            </a:r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name: str</a:t>
            </a: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age: int</a:t>
            </a:r>
          </a:p>
          <a:p>
            <a:endParaRPr lang="en-IN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</a:t>
            </a:r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does NOT validate types at runtime</a:t>
            </a:r>
          </a:p>
          <a:p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User(name="Alice", age=</a:t>
            </a:r>
            <a:r>
              <a:rPr lang="en-IN" sz="1600" noProof="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"25"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print(“Result:", </a:t>
            </a:r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IN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Output</a:t>
            </a: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Result: {'name': 'Alice', 'age': </a:t>
            </a:r>
            <a:r>
              <a:rPr lang="en-IN" sz="1600" noProof="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'25'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5D3221-1302-8430-8F0A-5E30BC9C7F3B}"/>
              </a:ext>
            </a:extLst>
          </p:cNvPr>
          <p:cNvSpPr txBox="1"/>
          <p:nvPr/>
        </p:nvSpPr>
        <p:spPr>
          <a:xfrm>
            <a:off x="6182088" y="2076911"/>
            <a:ext cx="5660904" cy="37856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pydantic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BaseModel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ValidationError</a:t>
            </a:r>
            <a:endParaRPr lang="en-IN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IN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User(</a:t>
            </a:r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BaseModel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name: str</a:t>
            </a: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age: int</a:t>
            </a:r>
          </a:p>
          <a:p>
            <a:endParaRPr lang="en-IN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try:</a:t>
            </a: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#Automatically converts str → int</a:t>
            </a: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User(name="Alice", age="25")</a:t>
            </a: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print(“Result:", </a:t>
            </a:r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user_data.model_dump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())</a:t>
            </a: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except </a:t>
            </a:r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ValidationError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as e:</a:t>
            </a:r>
          </a:p>
          <a:p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print("Validation error:", e)</a:t>
            </a:r>
          </a:p>
          <a:p>
            <a:endParaRPr lang="en-IN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Pydantic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output: {'name': 'Alice', 'age': </a:t>
            </a:r>
            <a:r>
              <a:rPr lang="en-IN" sz="1600" noProof="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25</a:t>
            </a:r>
            <a:r>
              <a:rPr lang="en-IN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9F121-2EA4-336C-72DF-5BF77FEA704E}"/>
              </a:ext>
            </a:extLst>
          </p:cNvPr>
          <p:cNvSpPr txBox="1"/>
          <p:nvPr/>
        </p:nvSpPr>
        <p:spPr>
          <a:xfrm>
            <a:off x="9530233" y="3046407"/>
            <a:ext cx="2226669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/>
              <a:t>Note: If it was age = “twenty five”, it would give an error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C66B0F-033F-B1DF-0F66-F8DD8DC06082}"/>
              </a:ext>
            </a:extLst>
          </p:cNvPr>
          <p:cNvCxnSpPr/>
          <p:nvPr/>
        </p:nvCxnSpPr>
        <p:spPr>
          <a:xfrm>
            <a:off x="10889038" y="3969737"/>
            <a:ext cx="0" cy="392858"/>
          </a:xfrm>
          <a:prstGeom prst="straightConnector1">
            <a:avLst/>
          </a:prstGeom>
          <a:ln w="254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96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B1554-2159-9588-34C9-68148F75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45237-C51E-9B43-82A7-F7B15A70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TypedDict</a:t>
            </a:r>
            <a:r>
              <a:rPr lang="en-IN" noProof="0" dirty="0"/>
              <a:t> in Agents: Common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F9DA6-9BEE-7C50-A555-12FCA78A32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bg2">
              <a:lumMod val="90000"/>
            </a:schemeClr>
          </a:solidFill>
        </p:spPr>
        <p:txBody>
          <a:bodyPr>
            <a:normAutofit fontScale="55000" lnSpcReduction="20000"/>
          </a:bodyPr>
          <a:lstStyle/>
          <a:p>
            <a:r>
              <a:rPr lang="en-IN" noProof="0" dirty="0"/>
              <a:t>class </a:t>
            </a:r>
            <a:r>
              <a:rPr lang="en-IN" noProof="0" dirty="0" err="1"/>
              <a:t>ResearchState</a:t>
            </a:r>
            <a:r>
              <a:rPr lang="en-IN" noProof="0" dirty="0"/>
              <a:t>(</a:t>
            </a:r>
            <a:r>
              <a:rPr lang="en-IN" noProof="0" dirty="0" err="1"/>
              <a:t>TypedDict</a:t>
            </a:r>
            <a:r>
              <a:rPr lang="en-IN" noProof="0" dirty="0"/>
              <a:t>):</a:t>
            </a:r>
          </a:p>
          <a:p>
            <a:r>
              <a:rPr lang="en-IN" noProof="0" dirty="0"/>
              <a:t>    # Input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research_question</a:t>
            </a:r>
            <a:r>
              <a:rPr lang="en-IN" noProof="0" dirty="0"/>
              <a:t>: str</a:t>
            </a:r>
          </a:p>
          <a:p>
            <a:r>
              <a:rPr lang="en-IN" noProof="0" dirty="0"/>
              <a:t>    </a:t>
            </a:r>
          </a:p>
          <a:p>
            <a:r>
              <a:rPr lang="en-IN" noProof="0" dirty="0"/>
              <a:t>    # Processing steps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search_queries</a:t>
            </a:r>
            <a:r>
              <a:rPr lang="en-IN" noProof="0" dirty="0"/>
              <a:t>: list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raw_results</a:t>
            </a:r>
            <a:r>
              <a:rPr lang="en-IN" noProof="0" dirty="0"/>
              <a:t>: list</a:t>
            </a:r>
          </a:p>
          <a:p>
            <a:r>
              <a:rPr lang="en-IN" noProof="0" dirty="0"/>
              <a:t>    </a:t>
            </a:r>
          </a:p>
          <a:p>
            <a:r>
              <a:rPr lang="en-IN" noProof="0" dirty="0"/>
              <a:t>    # Output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final_report</a:t>
            </a:r>
            <a:r>
              <a:rPr lang="en-IN" noProof="0" dirty="0"/>
              <a:t>: str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sources_cited</a:t>
            </a:r>
            <a:r>
              <a:rPr lang="en-IN" noProof="0" dirty="0"/>
              <a:t>: list</a:t>
            </a:r>
          </a:p>
          <a:p>
            <a:r>
              <a:rPr lang="en-IN" noProof="0" dirty="0"/>
              <a:t>    </a:t>
            </a:r>
          </a:p>
          <a:p>
            <a:r>
              <a:rPr lang="en-IN" noProof="0" dirty="0"/>
              <a:t>    # Metadata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confidence_score</a:t>
            </a:r>
            <a:r>
              <a:rPr lang="en-IN" noProof="0" dirty="0"/>
              <a:t>: float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processing_time</a:t>
            </a:r>
            <a:r>
              <a:rPr lang="en-IN" noProof="0" dirty="0"/>
              <a:t>: float</a:t>
            </a:r>
          </a:p>
          <a:p>
            <a:endParaRPr lang="en-IN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729D8-97E4-D777-E492-48EA30B09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bg2">
              <a:lumMod val="90000"/>
            </a:schemeClr>
          </a:solidFill>
        </p:spPr>
        <p:txBody>
          <a:bodyPr>
            <a:normAutofit fontScale="55000" lnSpcReduction="20000"/>
          </a:bodyPr>
          <a:lstStyle/>
          <a:p>
            <a:r>
              <a:rPr lang="en-IN" noProof="0" dirty="0"/>
              <a:t># Each node updates relevant parts</a:t>
            </a:r>
          </a:p>
          <a:p>
            <a:r>
              <a:rPr lang="en-IN" noProof="0" dirty="0"/>
              <a:t>def </a:t>
            </a:r>
            <a:r>
              <a:rPr lang="en-IN" noProof="0" dirty="0" err="1"/>
              <a:t>web_search_node</a:t>
            </a:r>
            <a:r>
              <a:rPr lang="en-IN" noProof="0" dirty="0"/>
              <a:t>(state: </a:t>
            </a:r>
            <a:r>
              <a:rPr lang="en-IN" noProof="0" dirty="0" err="1"/>
              <a:t>ResearchState</a:t>
            </a:r>
            <a:r>
              <a:rPr lang="en-IN" noProof="0" dirty="0"/>
              <a:t>):</a:t>
            </a:r>
          </a:p>
          <a:p>
            <a:r>
              <a:rPr lang="en-IN" noProof="0" dirty="0"/>
              <a:t>    return {"</a:t>
            </a:r>
            <a:r>
              <a:rPr lang="en-IN" noProof="0" dirty="0" err="1"/>
              <a:t>raw_results</a:t>
            </a:r>
            <a:r>
              <a:rPr lang="en-IN" noProof="0" dirty="0"/>
              <a:t>": ["result1", "result2"]}</a:t>
            </a:r>
          </a:p>
          <a:p>
            <a:endParaRPr lang="en-IN" noProof="0" dirty="0"/>
          </a:p>
          <a:p>
            <a:r>
              <a:rPr lang="en-IN" noProof="0" dirty="0"/>
              <a:t>def </a:t>
            </a:r>
            <a:r>
              <a:rPr lang="en-IN" noProof="0" dirty="0" err="1"/>
              <a:t>analyze_node</a:t>
            </a:r>
            <a:r>
              <a:rPr lang="en-IN" noProof="0" dirty="0"/>
              <a:t>(state: </a:t>
            </a:r>
            <a:r>
              <a:rPr lang="en-IN" noProof="0" dirty="0" err="1"/>
              <a:t>ResearchState</a:t>
            </a:r>
            <a:r>
              <a:rPr lang="en-IN" noProof="0" dirty="0"/>
              <a:t>):</a:t>
            </a:r>
          </a:p>
          <a:p>
            <a:r>
              <a:rPr lang="en-IN" noProof="0" dirty="0"/>
              <a:t>    return {</a:t>
            </a:r>
          </a:p>
          <a:p>
            <a:r>
              <a:rPr lang="en-IN" noProof="0" dirty="0"/>
              <a:t>        "</a:t>
            </a:r>
            <a:r>
              <a:rPr lang="en-IN" noProof="0" dirty="0" err="1"/>
              <a:t>final_report</a:t>
            </a:r>
            <a:r>
              <a:rPr lang="en-IN" noProof="0" dirty="0"/>
              <a:t>": "Based on research...",</a:t>
            </a:r>
          </a:p>
          <a:p>
            <a:r>
              <a:rPr lang="en-IN" noProof="0" dirty="0"/>
              <a:t>        "</a:t>
            </a:r>
            <a:r>
              <a:rPr lang="en-IN" noProof="0" dirty="0" err="1"/>
              <a:t>confidence_score</a:t>
            </a:r>
            <a:r>
              <a:rPr lang="en-IN" noProof="0" dirty="0"/>
              <a:t>": 0.85</a:t>
            </a:r>
          </a:p>
          <a:p>
            <a:r>
              <a:rPr lang="en-IN" noProof="0" dirty="0"/>
              <a:t>    }</a:t>
            </a:r>
          </a:p>
          <a:p>
            <a:endParaRPr lang="en-IN" noProof="0" dirty="0"/>
          </a:p>
        </p:txBody>
      </p:sp>
      <p:sp>
        <p:nvSpPr>
          <p:cNvPr id="6" name="Callout: Up Arrow 5">
            <a:extLst>
              <a:ext uri="{FF2B5EF4-FFF2-40B4-BE49-F238E27FC236}">
                <a16:creationId xmlns:a16="http://schemas.microsoft.com/office/drawing/2014/main" id="{45AA6152-C9DE-6A76-315A-90F8F0440D5B}"/>
              </a:ext>
            </a:extLst>
          </p:cNvPr>
          <p:cNvSpPr/>
          <p:nvPr/>
        </p:nvSpPr>
        <p:spPr>
          <a:xfrm>
            <a:off x="3203890" y="2115459"/>
            <a:ext cx="1193606" cy="725936"/>
          </a:xfrm>
          <a:prstGeom prst="upArrowCallo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noProof="0" dirty="0"/>
              <a:t>State</a:t>
            </a:r>
          </a:p>
        </p:txBody>
      </p:sp>
      <p:sp>
        <p:nvSpPr>
          <p:cNvPr id="7" name="Callout: Up Arrow 6">
            <a:extLst>
              <a:ext uri="{FF2B5EF4-FFF2-40B4-BE49-F238E27FC236}">
                <a16:creationId xmlns:a16="http://schemas.microsoft.com/office/drawing/2014/main" id="{84BB5B3F-D57B-D55A-3454-3CA9527AB8A4}"/>
              </a:ext>
            </a:extLst>
          </p:cNvPr>
          <p:cNvSpPr/>
          <p:nvPr/>
        </p:nvSpPr>
        <p:spPr>
          <a:xfrm>
            <a:off x="7569394" y="4431707"/>
            <a:ext cx="1193606" cy="725936"/>
          </a:xfrm>
          <a:prstGeom prst="upArrowCallo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noProof="0" dirty="0"/>
              <a:t>Nodes</a:t>
            </a:r>
          </a:p>
        </p:txBody>
      </p:sp>
    </p:spTree>
    <p:extLst>
      <p:ext uri="{BB962C8B-B14F-4D97-AF65-F5344CB8AC3E}">
        <p14:creationId xmlns:p14="http://schemas.microsoft.com/office/powerpoint/2010/main" val="4254207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37B090-3BDD-F9B3-7707-E55C7F44A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LangGraph</a:t>
            </a:r>
            <a:r>
              <a:rPr lang="en-IN" noProof="0" dirty="0"/>
              <a:t> Examples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2D77D-3B3B-E244-13C9-66084F552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113ABC89-4DD7-144E-45A5-82054541344C}"/>
              </a:ext>
            </a:extLst>
          </p:cNvPr>
          <p:cNvGraphicFramePr>
            <a:graphicFrameLocks/>
          </p:cNvGraphicFramePr>
          <p:nvPr/>
        </p:nvGraphicFramePr>
        <p:xfrm>
          <a:off x="502571" y="1486694"/>
          <a:ext cx="11419529" cy="502920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301612">
                  <a:extLst>
                    <a:ext uri="{9D8B030D-6E8A-4147-A177-3AD203B41FA5}">
                      <a16:colId xmlns:a16="http://schemas.microsoft.com/office/drawing/2014/main" val="3423643001"/>
                    </a:ext>
                  </a:extLst>
                </a:gridCol>
                <a:gridCol w="4711603">
                  <a:extLst>
                    <a:ext uri="{9D8B030D-6E8A-4147-A177-3AD203B41FA5}">
                      <a16:colId xmlns:a16="http://schemas.microsoft.com/office/drawing/2014/main" val="3801525920"/>
                    </a:ext>
                  </a:extLst>
                </a:gridCol>
                <a:gridCol w="3406314">
                  <a:extLst>
                    <a:ext uri="{9D8B030D-6E8A-4147-A177-3AD203B41FA5}">
                      <a16:colId xmlns:a16="http://schemas.microsoft.com/office/drawing/2014/main" val="2084314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0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noProof="0" dirty="0"/>
                        <a:t>External API Call and </a:t>
                      </a:r>
                      <a:r>
                        <a:rPr lang="en-IN" b="0" noProof="0" dirty="0" err="1"/>
                        <a:t>LangGraph</a:t>
                      </a:r>
                      <a:r>
                        <a:rPr lang="en-IN" b="0" noProof="0" dirty="0"/>
                        <a:t> Conditional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Call News API to get news about a particular topic and summarize according to sentiments in the news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3_2_langgraph_news_summarize.py (3_2_1 is its Ollama version)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4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Code Security Reviewer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Review code in a GitHub repository for security issues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noProof="0" dirty="0"/>
                        <a:t>3_3_langgraph_code_review.py</a:t>
                      </a:r>
                    </a:p>
                    <a:p>
                      <a:pPr>
                        <a:buNone/>
                      </a:pPr>
                      <a:endParaRPr lang="en-IN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Adding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Various memory options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See a separate slide for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Text Embeddings (Real)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noProof="0" dirty="0"/>
                        <a:t>Use text embeddings of real Amazon products using Hugging Face (First create them by using the code below)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noProof="0" dirty="0"/>
                        <a:t>3_5_langgraph_real_product_embeddings.py</a:t>
                      </a:r>
                    </a:p>
                    <a:p>
                      <a:pPr>
                        <a:buNone/>
                      </a:pPr>
                      <a:endParaRPr lang="en-IN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226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noProof="0" dirty="0"/>
                        <a:t>Creating the 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Independent code just for creating 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3_langgraph_darwin_embedding_creation.py and 3_langgraph_amazon_products_embedding_creation.py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954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noProof="0" dirty="0"/>
                        <a:t>Product vector search and web search combined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Search a product using vector search as before but also get product reviews from google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3_6_langgraph_product_vector_and_google_search.py*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5703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324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84AAB-21B7-B207-EE7E-797BC9AE4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60D9B0-BD4C-E4CA-1699-2B1CE1082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LangGraph</a:t>
            </a:r>
            <a:r>
              <a:rPr lang="en-IN" noProof="0" dirty="0"/>
              <a:t> Examples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8FCF10-3EAC-A579-BA2D-9F4359943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FF1BBCAB-08C1-6DAA-1873-E91497F0F01C}"/>
              </a:ext>
            </a:extLst>
          </p:cNvPr>
          <p:cNvGraphicFramePr>
            <a:graphicFrameLocks/>
          </p:cNvGraphicFramePr>
          <p:nvPr/>
        </p:nvGraphicFramePr>
        <p:xfrm>
          <a:off x="502571" y="1486694"/>
          <a:ext cx="11419529" cy="393192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301612">
                  <a:extLst>
                    <a:ext uri="{9D8B030D-6E8A-4147-A177-3AD203B41FA5}">
                      <a16:colId xmlns:a16="http://schemas.microsoft.com/office/drawing/2014/main" val="3423643001"/>
                    </a:ext>
                  </a:extLst>
                </a:gridCol>
                <a:gridCol w="4711603">
                  <a:extLst>
                    <a:ext uri="{9D8B030D-6E8A-4147-A177-3AD203B41FA5}">
                      <a16:colId xmlns:a16="http://schemas.microsoft.com/office/drawing/2014/main" val="3801525920"/>
                    </a:ext>
                  </a:extLst>
                </a:gridCol>
                <a:gridCol w="3406314">
                  <a:extLst>
                    <a:ext uri="{9D8B030D-6E8A-4147-A177-3AD203B41FA5}">
                      <a16:colId xmlns:a16="http://schemas.microsoft.com/office/drawing/2014/main" val="2084314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0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noProof="0" dirty="0"/>
                        <a:t>Conditional nodes in </a:t>
                      </a:r>
                      <a:r>
                        <a:rPr lang="en-IN" b="0" noProof="0" dirty="0" err="1"/>
                        <a:t>LangGraph</a:t>
                      </a:r>
                      <a:endParaRPr lang="en-IN" b="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User can choose to either get details of a product, comparison between two products, or recommendation about a product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3_7_langgraph_product_comparison_detail_recomend.py*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4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ReAct</a:t>
                      </a:r>
                      <a:r>
                        <a:rPr lang="en-IN" noProof="0" dirty="0"/>
                        <a:t> Style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AI-powered product query assistant built with </a:t>
                      </a:r>
                      <a:r>
                        <a:rPr lang="en-IN" noProof="0" dirty="0" err="1"/>
                        <a:t>LangGraph</a:t>
                      </a:r>
                      <a:r>
                        <a:rPr lang="en-IN" noProof="0" dirty="0"/>
                        <a:t> and </a:t>
                      </a:r>
                      <a:r>
                        <a:rPr lang="en-IN" noProof="0" dirty="0" err="1"/>
                        <a:t>Gradio</a:t>
                      </a:r>
                      <a:r>
                        <a:rPr lang="en-IN" noProof="0" dirty="0"/>
                        <a:t>, which classifies user queries (e.g., compare, recommend, specific) and uses a vector database plus a Google Gemini model to retrieve and </a:t>
                      </a:r>
                      <a:r>
                        <a:rPr lang="en-IN" noProof="0" dirty="0" err="1"/>
                        <a:t>analyze</a:t>
                      </a:r>
                      <a:r>
                        <a:rPr lang="en-IN" noProof="0" dirty="0"/>
                        <a:t> product information interactively through a chat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3_8_langgraph_react_style_agent.py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Add </a:t>
                      </a:r>
                      <a:r>
                        <a:rPr lang="en-IN" noProof="0" dirty="0" err="1"/>
                        <a:t>ntfy</a:t>
                      </a:r>
                      <a:r>
                        <a:rPr lang="en-IN" noProof="0" dirty="0"/>
                        <a:t> 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ntfy</a:t>
                      </a:r>
                      <a:r>
                        <a:rPr lang="en-IN" noProof="0" dirty="0"/>
                        <a:t> tool to send messages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3_9_langgraph_add_notify_tool.py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1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282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B39E-5F02-3B5C-485A-EED6B8479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LangGraph</a:t>
            </a:r>
            <a:r>
              <a:rPr lang="en-IN" noProof="0" dirty="0"/>
              <a:t> Memory Options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24AB14-F3AC-6418-1202-75052D2E4E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2885" y="1690688"/>
          <a:ext cx="10870916" cy="4480560"/>
        </p:xfrm>
        <a:graphic>
          <a:graphicData uri="http://schemas.openxmlformats.org/drawingml/2006/table">
            <a:tbl>
              <a:tblPr/>
              <a:tblGrid>
                <a:gridCol w="3215812">
                  <a:extLst>
                    <a:ext uri="{9D8B030D-6E8A-4147-A177-3AD203B41FA5}">
                      <a16:colId xmlns:a16="http://schemas.microsoft.com/office/drawing/2014/main" val="4125191519"/>
                    </a:ext>
                  </a:extLst>
                </a:gridCol>
                <a:gridCol w="2219646">
                  <a:extLst>
                    <a:ext uri="{9D8B030D-6E8A-4147-A177-3AD203B41FA5}">
                      <a16:colId xmlns:a16="http://schemas.microsoft.com/office/drawing/2014/main" val="440972129"/>
                    </a:ext>
                  </a:extLst>
                </a:gridCol>
                <a:gridCol w="3338673">
                  <a:extLst>
                    <a:ext uri="{9D8B030D-6E8A-4147-A177-3AD203B41FA5}">
                      <a16:colId xmlns:a16="http://schemas.microsoft.com/office/drawing/2014/main" val="2029455846"/>
                    </a:ext>
                  </a:extLst>
                </a:gridCol>
                <a:gridCol w="2096785">
                  <a:extLst>
                    <a:ext uri="{9D8B030D-6E8A-4147-A177-3AD203B41FA5}">
                      <a16:colId xmlns:a16="http://schemas.microsoft.com/office/drawing/2014/main" val="449993443"/>
                    </a:ext>
                  </a:extLst>
                </a:gridCol>
              </a:tblGrid>
              <a:tr h="426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Memory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Persistence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Typical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587075"/>
                  </a:ext>
                </a:extLst>
              </a:tr>
              <a:tr h="7456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In-memory / ephemeral memory</a:t>
                      </a:r>
                      <a:endParaRPr lang="en-IN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Volatile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Temporary context sharing between nodes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Single 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971842"/>
                  </a:ext>
                </a:extLst>
              </a:tr>
              <a:tr h="13848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 err="1"/>
                        <a:t>Checkpointer</a:t>
                      </a:r>
                      <a:r>
                        <a:rPr lang="en-IN" sz="2400" b="1" noProof="0" dirty="0"/>
                        <a:t> memory</a:t>
                      </a:r>
                      <a:r>
                        <a:rPr lang="en-IN" sz="2400" noProof="0" dirty="0"/>
                        <a:t> (e.g. </a:t>
                      </a:r>
                      <a:r>
                        <a:rPr lang="en-IN" sz="2400" noProof="0" dirty="0" err="1">
                          <a:latin typeface="Courier New" panose="02070309020205020404" pitchFamily="49" charset="0"/>
                        </a:rPr>
                        <a:t>MemorySaver</a:t>
                      </a:r>
                      <a:r>
                        <a:rPr lang="en-IN" sz="2400" noProof="0" dirty="0"/>
                        <a:t>, </a:t>
                      </a:r>
                      <a:r>
                        <a:rPr lang="en-IN" sz="2400" noProof="0" dirty="0" err="1">
                          <a:latin typeface="Courier New" panose="02070309020205020404" pitchFamily="49" charset="0"/>
                        </a:rPr>
                        <a:t>SqliteSaver</a:t>
                      </a:r>
                      <a:r>
                        <a:rPr lang="en-IN" sz="2400" noProof="0" dirty="0"/>
                        <a:t>, </a:t>
                      </a:r>
                      <a:r>
                        <a:rPr lang="en-IN" sz="2400" noProof="0" dirty="0" err="1">
                          <a:latin typeface="Courier New" panose="02070309020205020404" pitchFamily="49" charset="0"/>
                        </a:rPr>
                        <a:t>RedisSaver</a:t>
                      </a:r>
                      <a:r>
                        <a:rPr lang="en-IN" sz="2400" noProof="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Resume runs, maintain conversation across sessions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Multi-run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410272"/>
                  </a:ext>
                </a:extLst>
              </a:tr>
              <a:tr h="1065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External store memory</a:t>
                      </a:r>
                      <a:r>
                        <a:rPr lang="en-IN" sz="2400" noProof="0" dirty="0"/>
                        <a:t> (DB/Vector DB, custom stores)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Long-term or semantic 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Global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244554"/>
                  </a:ext>
                </a:extLst>
              </a:tr>
              <a:tr h="426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noProof="0" dirty="0"/>
                        <a:t>Custom memory class</a:t>
                      </a:r>
                      <a:endParaRPr lang="en-IN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User-defined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Specialized </a:t>
                      </a:r>
                      <a:r>
                        <a:rPr lang="en-IN" sz="2400" noProof="0" dirty="0" err="1"/>
                        <a:t>behaviors</a:t>
                      </a:r>
                      <a:endParaRPr lang="en-IN" sz="2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Custom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616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65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C297D-FC6D-F189-3996-1919A239E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9001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Memory Details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F587A0-6AD0-3E34-E3E1-AA54513074D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6462" y="1211461"/>
          <a:ext cx="11568701" cy="5278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37438">
                  <a:extLst>
                    <a:ext uri="{9D8B030D-6E8A-4147-A177-3AD203B41FA5}">
                      <a16:colId xmlns:a16="http://schemas.microsoft.com/office/drawing/2014/main" val="2645502338"/>
                    </a:ext>
                  </a:extLst>
                </a:gridCol>
                <a:gridCol w="3566858">
                  <a:extLst>
                    <a:ext uri="{9D8B030D-6E8A-4147-A177-3AD203B41FA5}">
                      <a16:colId xmlns:a16="http://schemas.microsoft.com/office/drawing/2014/main" val="2045287010"/>
                    </a:ext>
                  </a:extLst>
                </a:gridCol>
                <a:gridCol w="2617557">
                  <a:extLst>
                    <a:ext uri="{9D8B030D-6E8A-4147-A177-3AD203B41FA5}">
                      <a16:colId xmlns:a16="http://schemas.microsoft.com/office/drawing/2014/main" val="3529050310"/>
                    </a:ext>
                  </a:extLst>
                </a:gridCol>
                <a:gridCol w="3846848">
                  <a:extLst>
                    <a:ext uri="{9D8B030D-6E8A-4147-A177-3AD203B41FA5}">
                      <a16:colId xmlns:a16="http://schemas.microsoft.com/office/drawing/2014/main" val="1955293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Pros and 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Code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597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noProof="0" dirty="0"/>
                        <a:t>Ephemeral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noProof="0" dirty="0"/>
                        <a:t>Default way of storing variables passed between nodes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noProof="0" dirty="0"/>
                        <a:t>Lives only during graph execution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noProof="0" dirty="0"/>
                        <a:t>Cleared once the run finishes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Fast, No set-up</a:t>
                      </a:r>
                    </a:p>
                    <a:p>
                      <a:r>
                        <a:rPr lang="en-IN" sz="1600" noProof="0" dirty="0"/>
                        <a:t>Perfect for single-runs</a:t>
                      </a:r>
                    </a:p>
                    <a:p>
                      <a:endParaRPr lang="en-IN" sz="1600" noProof="0" dirty="0"/>
                    </a:p>
                    <a:p>
                      <a:r>
                        <a:rPr lang="en-IN" sz="1600" noProof="0" dirty="0"/>
                        <a:t>Lost after process ends</a:t>
                      </a:r>
                    </a:p>
                    <a:p>
                      <a:r>
                        <a:rPr lang="en-IN" sz="1600" noProof="0" dirty="0"/>
                        <a:t>No persistence / checkpointing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3_4_1_langgraph_memory_ephemeral.py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213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noProof="0" dirty="0"/>
                        <a:t>Checkpoint-based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Main 0ptions:</a:t>
                      </a:r>
                    </a:p>
                    <a:p>
                      <a:r>
                        <a:rPr lang="en-IN" sz="1600" noProof="0" dirty="0" err="1"/>
                        <a:t>MemorySaver</a:t>
                      </a:r>
                      <a:r>
                        <a:rPr lang="en-IN" sz="1600" noProof="0" dirty="0"/>
                        <a:t> (in-memory checkpoints)</a:t>
                      </a:r>
                    </a:p>
                    <a:p>
                      <a:r>
                        <a:rPr lang="en-IN" sz="1600" noProof="0" dirty="0" err="1"/>
                        <a:t>SqliteSaver</a:t>
                      </a:r>
                      <a:r>
                        <a:rPr lang="en-IN" sz="1600" noProof="0" dirty="0"/>
                        <a:t> (SQLite-backed persistence)</a:t>
                      </a:r>
                    </a:p>
                    <a:p>
                      <a:r>
                        <a:rPr lang="en-IN" sz="1600" noProof="0" dirty="0" err="1"/>
                        <a:t>RedisSaver</a:t>
                      </a:r>
                      <a:r>
                        <a:rPr lang="en-IN" sz="1600" noProof="0" dirty="0"/>
                        <a:t> (distributed persistence)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noProof="0" dirty="0"/>
                        <a:t>Allows a graph to pause, persist, and resume</a:t>
                      </a:r>
                    </a:p>
                    <a:p>
                      <a:endParaRPr lang="en-IN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3_4_2_langgraph_memory_checkpointer_memory_saver.py, 3_4_3_langgraph_memory_sqllite_memory_saver.py, 3_4_5_langgraph_memory_sqllite_read_saved_data.py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27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noProof="0" dirty="0"/>
                        <a:t>External/</a:t>
                      </a:r>
                    </a:p>
                    <a:p>
                      <a:r>
                        <a:rPr lang="en-IN" sz="1600" b="1" noProof="0" dirty="0"/>
                        <a:t>Long-term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Not managed by </a:t>
                      </a:r>
                      <a:r>
                        <a:rPr lang="en-IN" sz="1600" noProof="0" dirty="0" err="1"/>
                        <a:t>LangGraph</a:t>
                      </a:r>
                      <a:r>
                        <a:rPr lang="en-IN" sz="1600" noProof="0" dirty="0"/>
                        <a:t> directly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True long-term persistence</a:t>
                      </a:r>
                    </a:p>
                    <a:p>
                      <a:r>
                        <a:rPr lang="en-IN" sz="1600" noProof="0" dirty="0"/>
                        <a:t>Semantic retrieval possible</a:t>
                      </a:r>
                    </a:p>
                    <a:p>
                      <a:r>
                        <a:rPr lang="en-IN" sz="1600" noProof="0" dirty="0"/>
                        <a:t>Works across multiple runs and sessions</a:t>
                      </a:r>
                    </a:p>
                    <a:p>
                      <a:endParaRPr lang="en-IN" sz="1600" noProof="0" dirty="0"/>
                    </a:p>
                    <a:p>
                      <a:r>
                        <a:rPr lang="en-IN" sz="1600" noProof="0" dirty="0"/>
                        <a:t>Needs more effort</a:t>
                      </a:r>
                    </a:p>
                    <a:p>
                      <a:r>
                        <a:rPr lang="en-IN" sz="1600" noProof="0" dirty="0"/>
                        <a:t>Slower (I/O, Embeddings)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3_4_6_langgraph_memory_chromadb_memory_saver.py*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754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892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888BF-B321-7D37-12C7-6C786E63C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ChromaDB</a:t>
            </a:r>
            <a:endParaRPr lang="en-IN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BFD2067-4F07-86DB-ECED-7DD24C00F65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7817" y="1690688"/>
          <a:ext cx="10330626" cy="4850566"/>
        </p:xfrm>
        <a:graphic>
          <a:graphicData uri="http://schemas.openxmlformats.org/drawingml/2006/table">
            <a:tbl>
              <a:tblPr/>
              <a:tblGrid>
                <a:gridCol w="2010284">
                  <a:extLst>
                    <a:ext uri="{9D8B030D-6E8A-4147-A177-3AD203B41FA5}">
                      <a16:colId xmlns:a16="http://schemas.microsoft.com/office/drawing/2014/main" val="159524871"/>
                    </a:ext>
                  </a:extLst>
                </a:gridCol>
                <a:gridCol w="8320342">
                  <a:extLst>
                    <a:ext uri="{9D8B030D-6E8A-4147-A177-3AD203B41FA5}">
                      <a16:colId xmlns:a16="http://schemas.microsoft.com/office/drawing/2014/main" val="3372872986"/>
                    </a:ext>
                  </a:extLst>
                </a:gridCol>
              </a:tblGrid>
              <a:tr h="226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Aspect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Description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07823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What it is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A </a:t>
                      </a:r>
                      <a:r>
                        <a:rPr lang="en-IN" sz="1800" b="1" noProof="0" dirty="0"/>
                        <a:t>vector database</a:t>
                      </a:r>
                      <a:r>
                        <a:rPr lang="en-IN" sz="1800" noProof="0" dirty="0"/>
                        <a:t> for storing and searching embeddings (numerical representations of text, images, etc.)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17180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Main purpose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To enable </a:t>
                      </a:r>
                      <a:r>
                        <a:rPr lang="en-IN" sz="1800" b="1" i="0" noProof="0" dirty="0"/>
                        <a:t>semantic search</a:t>
                      </a:r>
                      <a:r>
                        <a:rPr lang="en-IN" sz="1800" noProof="0" dirty="0"/>
                        <a:t> — finding similar meanings, not just exact keyword matches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953546"/>
                  </a:ext>
                </a:extLst>
              </a:tr>
              <a:tr h="226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Data stored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Pairs of: </a:t>
                      </a:r>
                      <a:r>
                        <a:rPr lang="en-IN" sz="1800" b="1" noProof="0" dirty="0"/>
                        <a:t>(embedding vector, original text, metadata)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923981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Embedding source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Can come from models like OpenAI, </a:t>
                      </a:r>
                      <a:r>
                        <a:rPr lang="en-IN" sz="1800" noProof="0" dirty="0" err="1"/>
                        <a:t>HuggingFace</a:t>
                      </a:r>
                      <a:r>
                        <a:rPr lang="en-IN" sz="1800" noProof="0" dirty="0"/>
                        <a:t>, or custom embedding generators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713577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Storage mode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Persistent on disk (</a:t>
                      </a:r>
                      <a:r>
                        <a:rPr lang="en-IN" sz="1800" noProof="0" dirty="0" err="1">
                          <a:latin typeface="Courier New" panose="02070309020205020404" pitchFamily="49" charset="0"/>
                        </a:rPr>
                        <a:t>persist_directory</a:t>
                      </a:r>
                      <a:r>
                        <a:rPr lang="en-IN" sz="1800" noProof="0" dirty="0"/>
                        <a:t>) or in-memory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267361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Core operations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 err="1">
                          <a:latin typeface="Courier New" panose="02070309020205020404" pitchFamily="49" charset="0"/>
                        </a:rPr>
                        <a:t>add_texts</a:t>
                      </a:r>
                      <a:r>
                        <a:rPr lang="en-IN" sz="18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IN" sz="1800" noProof="0" dirty="0"/>
                        <a:t> or </a:t>
                      </a:r>
                      <a:r>
                        <a:rPr lang="en-IN" sz="1800" noProof="0" dirty="0" err="1">
                          <a:latin typeface="Courier New" panose="02070309020205020404" pitchFamily="49" charset="0"/>
                        </a:rPr>
                        <a:t>from_texts</a:t>
                      </a:r>
                      <a:r>
                        <a:rPr lang="en-IN" sz="18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IN" sz="1800" noProof="0" dirty="0"/>
                        <a:t> to insert data; </a:t>
                      </a:r>
                      <a:r>
                        <a:rPr lang="en-IN" sz="1800" noProof="0" dirty="0" err="1">
                          <a:latin typeface="Courier New" panose="02070309020205020404" pitchFamily="49" charset="0"/>
                        </a:rPr>
                        <a:t>similarity_search</a:t>
                      </a:r>
                      <a:r>
                        <a:rPr lang="en-IN" sz="18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IN" sz="1800" noProof="0" dirty="0"/>
                        <a:t> or </a:t>
                      </a:r>
                      <a:r>
                        <a:rPr lang="en-IN" sz="1800" noProof="0" dirty="0" err="1">
                          <a:latin typeface="Courier New" panose="02070309020205020404" pitchFamily="49" charset="0"/>
                        </a:rPr>
                        <a:t>similarity_search_by_vector</a:t>
                      </a:r>
                      <a:r>
                        <a:rPr lang="en-IN" sz="18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IN" sz="1800" noProof="0" dirty="0"/>
                        <a:t> to query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563704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Similarity metric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Typically </a:t>
                      </a:r>
                      <a:r>
                        <a:rPr lang="en-IN" sz="1800" b="1" noProof="0" dirty="0"/>
                        <a:t>cosine similarity</a:t>
                      </a:r>
                      <a:r>
                        <a:rPr lang="en-IN" sz="1800" noProof="0" dirty="0"/>
                        <a:t> (measures how close two vectors are)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5910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Persistence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Automatically stores data locally (e.g., </a:t>
                      </a:r>
                      <a:r>
                        <a:rPr lang="en-IN" sz="1800" noProof="0" dirty="0">
                          <a:latin typeface="Courier New" panose="02070309020205020404" pitchFamily="49" charset="0"/>
                        </a:rPr>
                        <a:t>./chroma/</a:t>
                      </a:r>
                      <a:r>
                        <a:rPr lang="en-IN" sz="1800" noProof="0" dirty="0"/>
                        <a:t>) using SQLite + Parquet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77099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Integration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Works well with </a:t>
                      </a:r>
                      <a:r>
                        <a:rPr lang="en-IN" sz="1800" noProof="0" dirty="0" err="1"/>
                        <a:t>LangChain</a:t>
                      </a:r>
                      <a:r>
                        <a:rPr lang="en-IN" sz="1800" noProof="0" dirty="0"/>
                        <a:t>, </a:t>
                      </a:r>
                      <a:r>
                        <a:rPr lang="en-IN" sz="1800" noProof="0" dirty="0" err="1"/>
                        <a:t>LangGraph</a:t>
                      </a:r>
                      <a:r>
                        <a:rPr lang="en-IN" sz="1800" noProof="0" dirty="0"/>
                        <a:t>, and other LLM frameworks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153313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Use cases</a:t>
                      </a:r>
                      <a:endParaRPr lang="en-IN" sz="1800" noProof="0" dirty="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FAQ search, product recommendation, document retrieval, RAG (Retrieval-Augmented Generation)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647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920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3BC80C4-B8D0-42B1-3C5C-E726BD67EA5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211" y="262071"/>
          <a:ext cx="1628384" cy="583088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93719">
                  <a:extLst>
                    <a:ext uri="{9D8B030D-6E8A-4147-A177-3AD203B41FA5}">
                      <a16:colId xmlns:a16="http://schemas.microsoft.com/office/drawing/2014/main" val="1235625342"/>
                    </a:ext>
                  </a:extLst>
                </a:gridCol>
                <a:gridCol w="1334665">
                  <a:extLst>
                    <a:ext uri="{9D8B030D-6E8A-4147-A177-3AD203B41FA5}">
                      <a16:colId xmlns:a16="http://schemas.microsoft.com/office/drawing/2014/main" val="2029857368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Text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314278695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"Apple iPhone 15 with A17 chip and dynamic island feature."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97052357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"Samsung Galaxy S23 smartphone with AMOLED display and triple camera."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627301218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"Noise-cancelling wireless headphones with 30-hour battery life."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00337917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"Compact digital camera with 20MP lens and 4K video recording."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344685312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"Leather office chair with ergonomic design and adjustable height."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133124208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"Running shoes with breathable mesh and cushioned sole for comfort."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697964619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"Organic green tea with antioxidants and a soothing </a:t>
                      </a:r>
                      <a:r>
                        <a:rPr lang="en-IN" sz="1050" noProof="0" dirty="0" err="1"/>
                        <a:t>flavor</a:t>
                      </a:r>
                      <a:r>
                        <a:rPr lang="en-IN" sz="1050" noProof="0" dirty="0"/>
                        <a:t>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24973018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"Cookware set with non-stick pans and heat-resistant handles."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60370122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0C22F2E-0F99-8A0C-459F-7B4D6FBE0293}"/>
              </a:ext>
            </a:extLst>
          </p:cNvPr>
          <p:cNvGraphicFramePr>
            <a:graphicFrameLocks noGrp="1"/>
          </p:cNvGraphicFramePr>
          <p:nvPr/>
        </p:nvGraphicFramePr>
        <p:xfrm>
          <a:off x="1789801" y="130734"/>
          <a:ext cx="3531376" cy="5962222"/>
        </p:xfrm>
        <a:graphic>
          <a:graphicData uri="http://schemas.openxmlformats.org/drawingml/2006/table">
            <a:tbl>
              <a:tblPr/>
              <a:tblGrid>
                <a:gridCol w="325186">
                  <a:extLst>
                    <a:ext uri="{9D8B030D-6E8A-4147-A177-3AD203B41FA5}">
                      <a16:colId xmlns:a16="http://schemas.microsoft.com/office/drawing/2014/main" val="676839418"/>
                    </a:ext>
                  </a:extLst>
                </a:gridCol>
                <a:gridCol w="551432">
                  <a:extLst>
                    <a:ext uri="{9D8B030D-6E8A-4147-A177-3AD203B41FA5}">
                      <a16:colId xmlns:a16="http://schemas.microsoft.com/office/drawing/2014/main" val="2756974059"/>
                    </a:ext>
                  </a:extLst>
                </a:gridCol>
                <a:gridCol w="2654758">
                  <a:extLst>
                    <a:ext uri="{9D8B030D-6E8A-4147-A177-3AD203B41FA5}">
                      <a16:colId xmlns:a16="http://schemas.microsoft.com/office/drawing/2014/main" val="1208553477"/>
                    </a:ext>
                  </a:extLst>
                </a:gridCol>
              </a:tblGrid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Example Embedding (truncated)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154862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Apple iPhone 15...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[0.41, -0.28, 0.66, 0.12, -0.47,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086064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Samsung Galaxy S23...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[0.39, -0.25, 0.61, 0.10, -0.45,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654981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Wireless headphones...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[0.12, -0.33, 0.74, -0.15, 0.22,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936145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Digital camera...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[0.08, -0.42, 0.79, -0.12, 0.31,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779022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Leather office chair...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[0.55, 0.16, -0.24, 0.48, -0.10,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88102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Running shoes...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[0.62, 0.08, -0.29, 0.33, -0.05,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768269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Organic green tea...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[-0.21, 0.55, 0.11, -0.43, 0.69,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441276"/>
                  </a:ext>
                </a:extLst>
              </a:tr>
              <a:tr h="430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Cookware set...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[0.31, 0.41, -0.14, 0.22, -0.51, …]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49024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06FAD2D-A912-D153-D3CA-58852D37F7C1}"/>
              </a:ext>
            </a:extLst>
          </p:cNvPr>
          <p:cNvGraphicFramePr>
            <a:graphicFrameLocks noGrp="1"/>
          </p:cNvGraphicFramePr>
          <p:nvPr/>
        </p:nvGraphicFramePr>
        <p:xfrm>
          <a:off x="5399383" y="94750"/>
          <a:ext cx="4353844" cy="604029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631469">
                  <a:extLst>
                    <a:ext uri="{9D8B030D-6E8A-4147-A177-3AD203B41FA5}">
                      <a16:colId xmlns:a16="http://schemas.microsoft.com/office/drawing/2014/main" val="2908873840"/>
                    </a:ext>
                  </a:extLst>
                </a:gridCol>
                <a:gridCol w="1545453">
                  <a:extLst>
                    <a:ext uri="{9D8B030D-6E8A-4147-A177-3AD203B41FA5}">
                      <a16:colId xmlns:a16="http://schemas.microsoft.com/office/drawing/2014/main" val="1038796647"/>
                    </a:ext>
                  </a:extLst>
                </a:gridCol>
                <a:gridCol w="1088461">
                  <a:extLst>
                    <a:ext uri="{9D8B030D-6E8A-4147-A177-3AD203B41FA5}">
                      <a16:colId xmlns:a16="http://schemas.microsoft.com/office/drawing/2014/main" val="277483026"/>
                    </a:ext>
                  </a:extLst>
                </a:gridCol>
                <a:gridCol w="1088461">
                  <a:extLst>
                    <a:ext uri="{9D8B030D-6E8A-4147-A177-3AD203B41FA5}">
                      <a16:colId xmlns:a16="http://schemas.microsoft.com/office/drawing/2014/main" val="2842056756"/>
                    </a:ext>
                  </a:extLst>
                </a:gridCol>
              </a:tblGrid>
              <a:tr h="359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id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document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embedding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metadata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022497968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uuid_1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Apple iPhone 15 with A17 chip...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[0.41, -0.28, 0.66,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{"category": "</a:t>
                      </a:r>
                      <a:r>
                        <a:rPr lang="en-IN" sz="1050" noProof="0" dirty="0" err="1"/>
                        <a:t>mixed_products</a:t>
                      </a:r>
                      <a:r>
                        <a:rPr lang="en-IN" sz="1050" noProof="0" dirty="0"/>
                        <a:t>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926867980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uuid_2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Samsung Galaxy S23 smartphone...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[0.39, -0.25, 0.61,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{"category": "</a:t>
                      </a:r>
                      <a:r>
                        <a:rPr lang="en-IN" sz="1050" noProof="0" dirty="0" err="1"/>
                        <a:t>mixed_products</a:t>
                      </a:r>
                      <a:r>
                        <a:rPr lang="en-IN" sz="1050" noProof="0" dirty="0"/>
                        <a:t>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426541536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uuid_3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Noise-cancelling wireless headphones...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[0.12, -0.33, 0.74,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{"category": "</a:t>
                      </a:r>
                      <a:r>
                        <a:rPr lang="en-IN" sz="1050" noProof="0" dirty="0" err="1"/>
                        <a:t>mixed_products</a:t>
                      </a:r>
                      <a:r>
                        <a:rPr lang="en-IN" sz="1050" noProof="0" dirty="0"/>
                        <a:t>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680053589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uuid_4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Compact digital camera with 20MP lens...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[0.08, -0.42, 0.79,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{"category": "</a:t>
                      </a:r>
                      <a:r>
                        <a:rPr lang="en-IN" sz="1050" noProof="0" dirty="0" err="1"/>
                        <a:t>mixed_products</a:t>
                      </a:r>
                      <a:r>
                        <a:rPr lang="en-IN" sz="1050" noProof="0" dirty="0"/>
                        <a:t>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29771277"/>
                  </a:ext>
                </a:extLst>
              </a:tr>
              <a:tr h="883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uuid_5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Leather office chair with ergonomic design...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[0.55, 0.16, -0.24,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{"category": "</a:t>
                      </a:r>
                      <a:r>
                        <a:rPr lang="en-IN" sz="1050" noProof="0" dirty="0" err="1"/>
                        <a:t>mixed_products</a:t>
                      </a:r>
                      <a:r>
                        <a:rPr lang="en-IN" sz="1050" noProof="0" dirty="0"/>
                        <a:t>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096141865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uuid_6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Running shoes with breathable mesh...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[0.62, 0.08, -0.29,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{"category": "</a:t>
                      </a:r>
                      <a:r>
                        <a:rPr lang="en-IN" sz="1050" noProof="0" dirty="0" err="1"/>
                        <a:t>mixed_products</a:t>
                      </a:r>
                      <a:r>
                        <a:rPr lang="en-IN" sz="1050" noProof="0" dirty="0"/>
                        <a:t>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262436517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uuid_7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Organic green tea with antioxidants...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[-0.21, 0.55, 0.11,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{"category": "</a:t>
                      </a:r>
                      <a:r>
                        <a:rPr lang="en-IN" sz="1050" noProof="0" dirty="0" err="1"/>
                        <a:t>mixed_products</a:t>
                      </a:r>
                      <a:r>
                        <a:rPr lang="en-IN" sz="1050" noProof="0" dirty="0"/>
                        <a:t>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620155223"/>
                  </a:ext>
                </a:extLst>
              </a:tr>
              <a:tr h="68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uuid_8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Cookware set with non-stick pans...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[0.31, 0.41, -0.14, ...]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{"category": "</a:t>
                      </a:r>
                      <a:r>
                        <a:rPr lang="en-IN" sz="1050" noProof="0" dirty="0" err="1"/>
                        <a:t>mixed_products</a:t>
                      </a:r>
                      <a:r>
                        <a:rPr lang="en-IN" sz="1050" noProof="0" dirty="0"/>
                        <a:t>"}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56513983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22C8DA9-1787-66C7-4207-0D6757E19DE2}"/>
              </a:ext>
            </a:extLst>
          </p:cNvPr>
          <p:cNvGraphicFramePr>
            <a:graphicFrameLocks noGrp="1"/>
          </p:cNvGraphicFramePr>
          <p:nvPr/>
        </p:nvGraphicFramePr>
        <p:xfrm>
          <a:off x="9854198" y="2600974"/>
          <a:ext cx="2254591" cy="3444240"/>
        </p:xfrm>
        <a:graphic>
          <a:graphicData uri="http://schemas.openxmlformats.org/drawingml/2006/table">
            <a:tbl>
              <a:tblPr/>
              <a:tblGrid>
                <a:gridCol w="965589">
                  <a:extLst>
                    <a:ext uri="{9D8B030D-6E8A-4147-A177-3AD203B41FA5}">
                      <a16:colId xmlns:a16="http://schemas.microsoft.com/office/drawing/2014/main" val="4215628653"/>
                    </a:ext>
                  </a:extLst>
                </a:gridCol>
                <a:gridCol w="774797">
                  <a:extLst>
                    <a:ext uri="{9D8B030D-6E8A-4147-A177-3AD203B41FA5}">
                      <a16:colId xmlns:a16="http://schemas.microsoft.com/office/drawing/2014/main" val="2065376495"/>
                    </a:ext>
                  </a:extLst>
                </a:gridCol>
                <a:gridCol w="514205">
                  <a:extLst>
                    <a:ext uri="{9D8B030D-6E8A-4147-A177-3AD203B41FA5}">
                      <a16:colId xmlns:a16="http://schemas.microsoft.com/office/drawing/2014/main" val="6721434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noProof="0" dirty="0">
                          <a:solidFill>
                            <a:schemeClr val="bg1"/>
                          </a:solidFill>
                        </a:rPr>
                        <a:t>Stored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noProof="0" dirty="0">
                          <a:solidFill>
                            <a:schemeClr val="bg1"/>
                          </a:solidFill>
                        </a:rPr>
                        <a:t>Cosine Similarity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noProof="0" dirty="0">
                          <a:solidFill>
                            <a:schemeClr val="bg1"/>
                          </a:solidFill>
                        </a:rPr>
                        <a:t>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604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Samsung Galaxy S23 smartphone with AMOLED display and triple camera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noProof="0" dirty="0">
                          <a:solidFill>
                            <a:schemeClr val="bg1"/>
                          </a:solidFill>
                        </a:rPr>
                        <a:t>0.95</a:t>
                      </a:r>
                      <a:endParaRPr lang="en-IN" sz="1000" noProof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243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Apple iPhone 15 with A17 chip...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0.91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193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Compact digital camera with 20MP lens...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0.84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444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Wireless headphones...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0.40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927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Leather office chair...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0.21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noProof="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37575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92F72E8-8058-D07B-9A98-0088607BEEE1}"/>
              </a:ext>
            </a:extLst>
          </p:cNvPr>
          <p:cNvSpPr txBox="1"/>
          <p:nvPr/>
        </p:nvSpPr>
        <p:spPr>
          <a:xfrm>
            <a:off x="161417" y="6303078"/>
            <a:ext cx="145099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Original Text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34132B-A5A9-9668-1B85-D80B430E2A6E}"/>
              </a:ext>
            </a:extLst>
          </p:cNvPr>
          <p:cNvSpPr txBox="1"/>
          <p:nvPr/>
        </p:nvSpPr>
        <p:spPr>
          <a:xfrm>
            <a:off x="1750698" y="6204046"/>
            <a:ext cx="3609581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noProof="0" dirty="0"/>
              <a:t>Create Embeddings (</a:t>
            </a:r>
            <a:r>
              <a:rPr lang="en-IN" sz="1400" noProof="0" dirty="0">
                <a:latin typeface="Courier New" panose="02070309020205020404" pitchFamily="49" charset="0"/>
              </a:rPr>
              <a:t>sentence-transformers/all-MiniLM-L6-v2)</a:t>
            </a:r>
            <a:endParaRPr lang="en-IN" sz="1400" b="1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987994-1DC0-46A2-5088-0BC34057D501}"/>
              </a:ext>
            </a:extLst>
          </p:cNvPr>
          <p:cNvSpPr txBox="1"/>
          <p:nvPr/>
        </p:nvSpPr>
        <p:spPr>
          <a:xfrm>
            <a:off x="6282137" y="6303078"/>
            <a:ext cx="2518671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Chroma Internal Storage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128440-AF67-109B-63F0-72399568EC96}"/>
              </a:ext>
            </a:extLst>
          </p:cNvPr>
          <p:cNvSpPr txBox="1"/>
          <p:nvPr/>
        </p:nvSpPr>
        <p:spPr>
          <a:xfrm>
            <a:off x="10078970" y="6303078"/>
            <a:ext cx="201531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Query Processing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F17CAC-50AA-15C7-C644-DA41877481F8}"/>
              </a:ext>
            </a:extLst>
          </p:cNvPr>
          <p:cNvSpPr txBox="1"/>
          <p:nvPr/>
        </p:nvSpPr>
        <p:spPr>
          <a:xfrm>
            <a:off x="9816924" y="94750"/>
            <a:ext cx="2277356" cy="43088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100" noProof="0" dirty="0"/>
              <a:t>Query: </a:t>
            </a:r>
          </a:p>
          <a:p>
            <a:pPr algn="ctr"/>
            <a:r>
              <a:rPr lang="en-IN" sz="1100" noProof="0" dirty="0"/>
              <a:t>“Best smartphone for photography”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566F81-9C9D-3905-7378-D9320CE6935E}"/>
              </a:ext>
            </a:extLst>
          </p:cNvPr>
          <p:cNvSpPr txBox="1"/>
          <p:nvPr/>
        </p:nvSpPr>
        <p:spPr>
          <a:xfrm>
            <a:off x="9816924" y="977277"/>
            <a:ext cx="2277356" cy="43088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100" noProof="0" dirty="0"/>
              <a:t>Converted to Vector: </a:t>
            </a:r>
          </a:p>
          <a:p>
            <a:pPr algn="ctr"/>
            <a:r>
              <a:rPr lang="en-IN" sz="1100" noProof="0" dirty="0"/>
              <a:t>[0.40, -0.27, 0.67, 0.09, -0.46, …]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BE3DD039-0888-F54A-368A-90E1C2DB4686}"/>
              </a:ext>
            </a:extLst>
          </p:cNvPr>
          <p:cNvSpPr/>
          <p:nvPr/>
        </p:nvSpPr>
        <p:spPr>
          <a:xfrm>
            <a:off x="10805276" y="525637"/>
            <a:ext cx="258266" cy="4516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F134B7D3-97BC-14D7-34FA-77F6B8E0ECF0}"/>
              </a:ext>
            </a:extLst>
          </p:cNvPr>
          <p:cNvSpPr/>
          <p:nvPr/>
        </p:nvSpPr>
        <p:spPr>
          <a:xfrm>
            <a:off x="10805276" y="2135374"/>
            <a:ext cx="258266" cy="4516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AD364F-F911-46EF-F10D-F4A72CB3280E}"/>
              </a:ext>
            </a:extLst>
          </p:cNvPr>
          <p:cNvSpPr txBox="1"/>
          <p:nvPr/>
        </p:nvSpPr>
        <p:spPr>
          <a:xfrm>
            <a:off x="9816924" y="1866784"/>
            <a:ext cx="2277356" cy="2616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100" noProof="0" dirty="0"/>
              <a:t>Compare with the Vector DB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12BAEF52-E272-5776-7224-15C65D896155}"/>
              </a:ext>
            </a:extLst>
          </p:cNvPr>
          <p:cNvSpPr/>
          <p:nvPr/>
        </p:nvSpPr>
        <p:spPr>
          <a:xfrm>
            <a:off x="10805276" y="1408164"/>
            <a:ext cx="258266" cy="4516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281398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CCFA8-ABB8-16CB-08F7-BC4AE4175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Embedding and Storage in </a:t>
            </a:r>
            <a:r>
              <a:rPr lang="en-IN" noProof="0" dirty="0" err="1"/>
              <a:t>ChromaDB</a:t>
            </a:r>
            <a:endParaRPr lang="en-IN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09F660-960F-05B6-60D5-52103A33A50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8785" y="1392855"/>
          <a:ext cx="11454430" cy="5213181"/>
        </p:xfrm>
        <a:graphic>
          <a:graphicData uri="http://schemas.openxmlformats.org/drawingml/2006/table">
            <a:tbl>
              <a:tblPr/>
              <a:tblGrid>
                <a:gridCol w="383908">
                  <a:extLst>
                    <a:ext uri="{9D8B030D-6E8A-4147-A177-3AD203B41FA5}">
                      <a16:colId xmlns:a16="http://schemas.microsoft.com/office/drawing/2014/main" val="858010430"/>
                    </a:ext>
                  </a:extLst>
                </a:gridCol>
                <a:gridCol w="1710137">
                  <a:extLst>
                    <a:ext uri="{9D8B030D-6E8A-4147-A177-3AD203B41FA5}">
                      <a16:colId xmlns:a16="http://schemas.microsoft.com/office/drawing/2014/main" val="4007547208"/>
                    </a:ext>
                  </a:extLst>
                </a:gridCol>
                <a:gridCol w="3078247">
                  <a:extLst>
                    <a:ext uri="{9D8B030D-6E8A-4147-A177-3AD203B41FA5}">
                      <a16:colId xmlns:a16="http://schemas.microsoft.com/office/drawing/2014/main" val="2613465095"/>
                    </a:ext>
                  </a:extLst>
                </a:gridCol>
                <a:gridCol w="3057307">
                  <a:extLst>
                    <a:ext uri="{9D8B030D-6E8A-4147-A177-3AD203B41FA5}">
                      <a16:colId xmlns:a16="http://schemas.microsoft.com/office/drawing/2014/main" val="3451700151"/>
                    </a:ext>
                  </a:extLst>
                </a:gridCol>
                <a:gridCol w="3224831">
                  <a:extLst>
                    <a:ext uri="{9D8B030D-6E8A-4147-A177-3AD203B41FA5}">
                      <a16:colId xmlns:a16="http://schemas.microsoft.com/office/drawing/2014/main" val="3570506273"/>
                    </a:ext>
                  </a:extLst>
                </a:gridCol>
              </a:tblGrid>
              <a:tr h="229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Step</a:t>
                      </a:r>
                      <a:endParaRPr lang="en-IN" sz="1400" noProof="0" dirty="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Action</a:t>
                      </a:r>
                      <a:endParaRPr lang="en-IN" sz="1400" noProof="0" dirty="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Input / Output Example</a:t>
                      </a:r>
                      <a:endParaRPr lang="en-IN" sz="1400" noProof="0" dirty="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What Happens Internally</a:t>
                      </a:r>
                      <a:endParaRPr lang="en-IN" sz="1400" noProof="0" dirty="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Stored in </a:t>
                      </a:r>
                      <a:r>
                        <a:rPr lang="en-IN" sz="1400" b="1" noProof="0" dirty="0" err="1"/>
                        <a:t>ChromaDB</a:t>
                      </a:r>
                      <a:endParaRPr lang="en-IN" sz="1400" noProof="0" dirty="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31819"/>
                  </a:ext>
                </a:extLst>
              </a:tr>
              <a:tr h="719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1</a:t>
                      </a:r>
                      <a:endParaRPr lang="en-IN" sz="1400" noProof="0" dirty="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Texts given to Chroma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["Hi there", "Bye, see you later"]</a:t>
                      </a:r>
                      <a:endParaRPr lang="en-IN" sz="1400" noProof="0" dirty="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Each text is sent to the </a:t>
                      </a:r>
                      <a:r>
                        <a:rPr lang="en-IN" sz="1400" b="1" noProof="0" dirty="0"/>
                        <a:t>embedding model</a:t>
                      </a:r>
                      <a:r>
                        <a:rPr lang="en-IN" sz="1400" noProof="0" dirty="0"/>
                        <a:t> (e.g. </a:t>
                      </a: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sentence-transformers/all-MiniLM-L6-v2</a:t>
                      </a:r>
                      <a:r>
                        <a:rPr lang="en-IN" sz="1400" noProof="0" dirty="0"/>
                        <a:t>).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Raw text + metadata are prepared.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042971"/>
                  </a:ext>
                </a:extLst>
              </a:tr>
              <a:tr h="719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2</a:t>
                      </a:r>
                      <a:endParaRPr lang="en-IN" sz="1400" noProof="0" dirty="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Embedding model converts text → vector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"Hi there"</a:t>
                      </a:r>
                      <a:r>
                        <a:rPr lang="en-IN" sz="1400" noProof="0" dirty="0"/>
                        <a:t> → </a:t>
                      </a: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[0.12, -0.43, 0.87, ...]</a:t>
                      </a:r>
                      <a:r>
                        <a:rPr lang="en-IN" sz="1400" noProof="0" dirty="0"/>
                        <a:t> (384 dims)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 err="1"/>
                        <a:t>HuggingFace</a:t>
                      </a:r>
                      <a:r>
                        <a:rPr lang="en-IN" sz="1400" noProof="0" dirty="0"/>
                        <a:t> Embeddings converts each string into a </a:t>
                      </a:r>
                      <a:r>
                        <a:rPr lang="en-IN" sz="1400" b="1" noProof="0" dirty="0"/>
                        <a:t>dense numerical vector</a:t>
                      </a:r>
                      <a:r>
                        <a:rPr lang="en-IN" sz="1400" noProof="0" dirty="0"/>
                        <a:t> capturing its meaning.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Each vector = Semantic representation of one text.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574829"/>
                  </a:ext>
                </a:extLst>
              </a:tr>
              <a:tr h="916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3</a:t>
                      </a:r>
                      <a:endParaRPr lang="en-IN" sz="1400" noProof="0" dirty="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Vectors + text added to collection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 err="1">
                          <a:latin typeface="Courier New" panose="02070309020205020404" pitchFamily="49" charset="0"/>
                        </a:rPr>
                        <a:t>collection_name</a:t>
                      </a: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="</a:t>
                      </a:r>
                      <a:r>
                        <a:rPr lang="en-IN" sz="1400" noProof="0" dirty="0" err="1">
                          <a:latin typeface="Courier New" panose="02070309020205020404" pitchFamily="49" charset="0"/>
                        </a:rPr>
                        <a:t>greetings_memory</a:t>
                      </a: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"</a:t>
                      </a:r>
                      <a:endParaRPr lang="en-IN" sz="1400" noProof="0" dirty="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 err="1">
                          <a:latin typeface="Courier New" panose="02070309020205020404" pitchFamily="49" charset="0"/>
                        </a:rPr>
                        <a:t>vectorstore.add_texts</a:t>
                      </a: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IN" sz="1400" noProof="0" dirty="0"/>
                        <a:t> sends data to Chroma, which stores: ID (auto-generated), text (document), vector (embedding), metadata (optional)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Stored in a </a:t>
                      </a:r>
                      <a:r>
                        <a:rPr lang="en-IN" sz="1400" b="1" noProof="0" dirty="0" err="1"/>
                        <a:t>DuckDB</a:t>
                      </a:r>
                      <a:r>
                        <a:rPr lang="en-IN" sz="1400" b="1" noProof="0" dirty="0"/>
                        <a:t> / SQLite file</a:t>
                      </a:r>
                      <a:r>
                        <a:rPr lang="en-IN" sz="1400" noProof="0" dirty="0"/>
                        <a:t> inside </a:t>
                      </a: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.chroma/</a:t>
                      </a:r>
                      <a:r>
                        <a:rPr lang="en-IN" sz="1400" noProof="0" dirty="0"/>
                        <a:t> directory.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394345"/>
                  </a:ext>
                </a:extLst>
              </a:tr>
              <a:tr h="719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4</a:t>
                      </a:r>
                      <a:endParaRPr lang="en-IN" sz="1400" noProof="0" dirty="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Query comes in (e.g., </a:t>
                      </a: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"Hello"</a:t>
                      </a:r>
                      <a:r>
                        <a:rPr lang="en-IN" sz="1400" noProof="0" dirty="0"/>
                        <a:t>)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Query embedding = </a:t>
                      </a: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[0.09, -0.40, 0.90, ...]</a:t>
                      </a:r>
                      <a:endParaRPr lang="en-IN" sz="1400" noProof="0" dirty="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Query vector computed with same model → then compared to all stored vectors using </a:t>
                      </a:r>
                      <a:r>
                        <a:rPr lang="en-IN" sz="1400" b="1" noProof="0" dirty="0"/>
                        <a:t>cosine similarity</a:t>
                      </a:r>
                      <a:r>
                        <a:rPr lang="en-IN" sz="1400" noProof="0" dirty="0"/>
                        <a:t> or </a:t>
                      </a:r>
                      <a:r>
                        <a:rPr lang="en-IN" sz="1400" b="1" noProof="0" dirty="0"/>
                        <a:t>Euclidean distance</a:t>
                      </a:r>
                      <a:r>
                        <a:rPr lang="en-IN" sz="1400" noProof="0" dirty="0"/>
                        <a:t>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No new row added yet — only temporary computation.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507515"/>
                  </a:ext>
                </a:extLst>
              </a:tr>
              <a:tr h="523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5</a:t>
                      </a:r>
                      <a:endParaRPr lang="en-IN" sz="1400" noProof="0" dirty="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Similarity search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"Hello"</a:t>
                      </a:r>
                      <a:r>
                        <a:rPr lang="en-IN" sz="1400" noProof="0" dirty="0"/>
                        <a:t> vs </a:t>
                      </a: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"Hi there"</a:t>
                      </a:r>
                      <a:r>
                        <a:rPr lang="en-IN" sz="1400" noProof="0" dirty="0"/>
                        <a:t> ≈ </a:t>
                      </a:r>
                      <a:r>
                        <a:rPr lang="en-IN" sz="1400" b="1" noProof="0" dirty="0"/>
                        <a:t>cosine sim 0.93</a:t>
                      </a:r>
                      <a:endParaRPr lang="en-IN" sz="1400" noProof="0" dirty="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Chroma calculates distance between vectors → smaller distance = more similar.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Returns ranked results from stored vectors.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459904"/>
                  </a:ext>
                </a:extLst>
              </a:tr>
              <a:tr h="523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6</a:t>
                      </a:r>
                      <a:endParaRPr lang="en-IN" sz="1400" noProof="0" dirty="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Results returned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>
                          <a:latin typeface="Courier New" panose="02070309020205020404" pitchFamily="49" charset="0"/>
                        </a:rPr>
                        <a:t>[("Hi there", score=0.93), ("Bye, see you later", score=0.75)]</a:t>
                      </a:r>
                      <a:endParaRPr lang="en-IN" sz="1400" noProof="0" dirty="0"/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Chroma returns top-k nearest </a:t>
                      </a:r>
                      <a:r>
                        <a:rPr lang="en-IN" sz="1400" noProof="0" dirty="0" err="1"/>
                        <a:t>neighbors</a:t>
                      </a:r>
                      <a:r>
                        <a:rPr lang="en-IN" sz="1400" noProof="0" dirty="0"/>
                        <a:t> sorted by similarity.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We can convert or normalize scores before showing to user.</a:t>
                      </a:r>
                    </a:p>
                  </a:txBody>
                  <a:tcPr marL="32717" marR="32717" marT="16358" marB="163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812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216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ECEC1-37C5-1402-6FE7-2A4B96E45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Representation Inside </a:t>
            </a:r>
            <a:r>
              <a:rPr lang="en-IN" noProof="0" dirty="0" err="1"/>
              <a:t>ChromaDB</a:t>
            </a:r>
            <a:endParaRPr lang="en-IN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3410E2-2776-041C-0EAF-63D191E8E3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1617" y="1690688"/>
          <a:ext cx="10515600" cy="1828800"/>
        </p:xfrm>
        <a:graphic>
          <a:graphicData uri="http://schemas.openxmlformats.org/drawingml/2006/table">
            <a:tbl>
              <a:tblPr/>
              <a:tblGrid>
                <a:gridCol w="1542032">
                  <a:extLst>
                    <a:ext uri="{9D8B030D-6E8A-4147-A177-3AD203B41FA5}">
                      <a16:colId xmlns:a16="http://schemas.microsoft.com/office/drawing/2014/main" val="1706977520"/>
                    </a:ext>
                  </a:extLst>
                </a:gridCol>
                <a:gridCol w="3078247">
                  <a:extLst>
                    <a:ext uri="{9D8B030D-6E8A-4147-A177-3AD203B41FA5}">
                      <a16:colId xmlns:a16="http://schemas.microsoft.com/office/drawing/2014/main" val="1777147293"/>
                    </a:ext>
                  </a:extLst>
                </a:gridCol>
                <a:gridCol w="4425417">
                  <a:extLst>
                    <a:ext uri="{9D8B030D-6E8A-4147-A177-3AD203B41FA5}">
                      <a16:colId xmlns:a16="http://schemas.microsoft.com/office/drawing/2014/main" val="1853368615"/>
                    </a:ext>
                  </a:extLst>
                </a:gridCol>
                <a:gridCol w="1469904">
                  <a:extLst>
                    <a:ext uri="{9D8B030D-6E8A-4147-A177-3AD203B41FA5}">
                      <a16:colId xmlns:a16="http://schemas.microsoft.com/office/drawing/2014/main" val="7704710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noProof="0" dirty="0"/>
                        <a:t>ID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noProof="0" dirty="0"/>
                        <a:t>Document (Text)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noProof="0" dirty="0"/>
                        <a:t>Embedding (Vector)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noProof="0" dirty="0"/>
                        <a:t>Metadata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123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noProof="0" dirty="0">
                          <a:latin typeface="Courier New" panose="02070309020205020404" pitchFamily="49" charset="0"/>
                        </a:rPr>
                        <a:t>uuid-1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noProof="0" dirty="0">
                          <a:latin typeface="Courier New" panose="02070309020205020404" pitchFamily="49" charset="0"/>
                        </a:rPr>
                        <a:t>"Hi there"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noProof="0" dirty="0">
                          <a:latin typeface="Courier New" panose="02070309020205020404" pitchFamily="49" charset="0"/>
                        </a:rPr>
                        <a:t>[0.12, -0.43, 0.87, ...]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noProof="0" dirty="0">
                          <a:latin typeface="Courier New" panose="02070309020205020404" pitchFamily="49" charset="0"/>
                        </a:rPr>
                        <a:t>{}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0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noProof="0" dirty="0">
                          <a:latin typeface="Courier New" panose="02070309020205020404" pitchFamily="49" charset="0"/>
                        </a:rPr>
                        <a:t>uuid-2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noProof="0" dirty="0">
                          <a:latin typeface="Courier New" panose="02070309020205020404" pitchFamily="49" charset="0"/>
                        </a:rPr>
                        <a:t>"Bye, see you later"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noProof="0" dirty="0">
                          <a:latin typeface="Courier New" panose="02070309020205020404" pitchFamily="49" charset="0"/>
                        </a:rPr>
                        <a:t>[-0.05, 0.22, 0.79, ...]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noProof="0" dirty="0">
                          <a:latin typeface="Courier New" panose="02070309020205020404" pitchFamily="49" charset="0"/>
                        </a:rPr>
                        <a:t>{}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304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noProof="0" dirty="0">
                          <a:latin typeface="Courier New" panose="02070309020205020404" pitchFamily="49" charset="0"/>
                        </a:rPr>
                        <a:t>uuid-3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noProof="0" dirty="0">
                          <a:latin typeface="Courier New" panose="02070309020205020404" pitchFamily="49" charset="0"/>
                        </a:rPr>
                        <a:t>"Greetings!"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noProof="0" dirty="0">
                          <a:latin typeface="Courier New" panose="02070309020205020404" pitchFamily="49" charset="0"/>
                        </a:rPr>
                        <a:t>[0.11, -0.39, 0.92, ...]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noProof="0" dirty="0">
                          <a:latin typeface="Courier New" panose="02070309020205020404" pitchFamily="49" charset="0"/>
                        </a:rPr>
                        <a:t>{}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737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noProof="0" dirty="0">
                          <a:latin typeface="Courier New" panose="02070309020205020404" pitchFamily="49" charset="0"/>
                        </a:rPr>
                        <a:t>uuid-4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noProof="0" dirty="0">
                          <a:latin typeface="Courier New" panose="02070309020205020404" pitchFamily="49" charset="0"/>
                        </a:rPr>
                        <a:t>"Do not come"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noProof="0" dirty="0">
                          <a:latin typeface="Courier New" panose="02070309020205020404" pitchFamily="49" charset="0"/>
                        </a:rPr>
                        <a:t>[-0.45, 0.67, -0.21, ...]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noProof="0" dirty="0">
                          <a:latin typeface="Courier New" panose="02070309020205020404" pitchFamily="49" charset="0"/>
                        </a:rPr>
                        <a:t>{}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430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080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22717-A683-AECF-F684-19F73024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3_6_langgraph_product_vector_and_google_search.py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26CF4B-8183-6608-49CC-E0D8AA809E4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471147"/>
        </p:xfrm>
        <a:graphic>
          <a:graphicData uri="http://schemas.openxmlformats.org/drawingml/2006/table">
            <a:tbl>
              <a:tblPr/>
              <a:tblGrid>
                <a:gridCol w="1276786">
                  <a:extLst>
                    <a:ext uri="{9D8B030D-6E8A-4147-A177-3AD203B41FA5}">
                      <a16:colId xmlns:a16="http://schemas.microsoft.com/office/drawing/2014/main" val="3755885271"/>
                    </a:ext>
                  </a:extLst>
                </a:gridCol>
                <a:gridCol w="2980525">
                  <a:extLst>
                    <a:ext uri="{9D8B030D-6E8A-4147-A177-3AD203B41FA5}">
                      <a16:colId xmlns:a16="http://schemas.microsoft.com/office/drawing/2014/main" val="1024114045"/>
                    </a:ext>
                  </a:extLst>
                </a:gridCol>
                <a:gridCol w="3155029">
                  <a:extLst>
                    <a:ext uri="{9D8B030D-6E8A-4147-A177-3AD203B41FA5}">
                      <a16:colId xmlns:a16="http://schemas.microsoft.com/office/drawing/2014/main" val="562945811"/>
                    </a:ext>
                  </a:extLst>
                </a:gridCol>
                <a:gridCol w="3103260">
                  <a:extLst>
                    <a:ext uri="{9D8B030D-6E8A-4147-A177-3AD203B41FA5}">
                      <a16:colId xmlns:a16="http://schemas.microsoft.com/office/drawing/2014/main" val="2772004817"/>
                    </a:ext>
                  </a:extLst>
                </a:gridCol>
              </a:tblGrid>
              <a:tr h="151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Step</a:t>
                      </a:r>
                      <a:endParaRPr lang="en-IN" sz="1200" noProof="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Process</a:t>
                      </a:r>
                      <a:endParaRPr lang="en-IN" sz="1200" noProof="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Description</a:t>
                      </a:r>
                      <a:endParaRPr lang="en-IN" sz="1200" noProof="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Example Output</a:t>
                      </a:r>
                      <a:endParaRPr lang="en-IN" sz="1200" noProof="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968873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1. User Input</a:t>
                      </a:r>
                      <a:endParaRPr lang="en-IN" sz="1200" noProof="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User enters a query.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The system takes a product-related search phrase from the user.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Query: “Best budget DSLR camera”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171132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2. Vector Search</a:t>
                      </a:r>
                      <a:endParaRPr lang="en-IN" sz="1200" noProof="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Finds semantically similar products from the local vector database.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Uses Hugging Face embeddings to compare vector similarity.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Vector Results:</a:t>
                      </a:r>
                      <a:r>
                        <a:rPr lang="en-IN" sz="1200" noProof="0" dirty="0"/>
                        <a:t>• Canon EOS 1500D• Nikon D3500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220801"/>
                  </a:ext>
                </a:extLst>
              </a:tr>
              <a:tr h="718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3. Web Search (</a:t>
                      </a:r>
                      <a:r>
                        <a:rPr lang="en-IN" sz="1200" b="1" noProof="0" dirty="0" err="1"/>
                        <a:t>SerpAPI</a:t>
                      </a:r>
                      <a:r>
                        <a:rPr lang="en-IN" sz="1200" b="1" noProof="0" dirty="0"/>
                        <a:t>)</a:t>
                      </a:r>
                      <a:endParaRPr lang="en-IN" sz="1200" noProof="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Fetches the latest related web results.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Uses the </a:t>
                      </a:r>
                      <a:r>
                        <a:rPr lang="en-IN" sz="1200" noProof="0" dirty="0" err="1"/>
                        <a:t>SerpAPI</a:t>
                      </a:r>
                      <a:r>
                        <a:rPr lang="en-IN" sz="1200" noProof="0" dirty="0"/>
                        <a:t> endpoint to get recent review snippets.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Web Results:</a:t>
                      </a:r>
                      <a:r>
                        <a:rPr lang="en-IN" sz="1200" noProof="0" dirty="0"/>
                        <a:t>• Canon EOS 1500D Review — Great entry-level camera.• Nikon D3500 Review — Excellent performance for price.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626699"/>
                  </a:ext>
                </a:extLst>
              </a:tr>
              <a:tr h="945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4. LLM Synthesis (Gemini)</a:t>
                      </a:r>
                      <a:endParaRPr lang="en-IN" sz="1200" noProof="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Combines vector DB data and web data to generate insights.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Gemini receives both vector and web contexts and </a:t>
                      </a:r>
                      <a:r>
                        <a:rPr lang="en-IN" sz="1200" noProof="0" dirty="0" err="1"/>
                        <a:t>analyzes</a:t>
                      </a:r>
                      <a:r>
                        <a:rPr lang="en-IN" sz="1200" noProof="0" dirty="0"/>
                        <a:t> them together.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Prompt </a:t>
                      </a:r>
                      <a:r>
                        <a:rPr lang="en-IN" sz="1200" b="1" noProof="0" dirty="0" err="1"/>
                        <a:t>Example:</a:t>
                      </a:r>
                      <a:r>
                        <a:rPr lang="en-IN" sz="1200" noProof="0" dirty="0" err="1"/>
                        <a:t>Analyze:Vector</a:t>
                      </a:r>
                      <a:r>
                        <a:rPr lang="en-IN" sz="1200" noProof="0" dirty="0"/>
                        <a:t> DB: Canon EOS 1500D, Nikon D3500Web: Canon EOS 1500D Review…, Nikon D3500 Review…Query: Best budget DSLR camera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438070"/>
                  </a:ext>
                </a:extLst>
              </a:tr>
              <a:tr h="718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5. AI Analysis Output</a:t>
                      </a:r>
                      <a:endParaRPr lang="en-IN" sz="1200" noProof="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Produces a final summarized answer for the user.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Gemini synthesizes all context and gives comparative reasoning.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“Both Canon EOS 1500D and Nikon D3500 are excellent budget DSLRs. Canon offers easier usability; Nikon has better battery life.”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779476"/>
                  </a:ext>
                </a:extLst>
              </a:tr>
              <a:tr h="1059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6. </a:t>
                      </a:r>
                      <a:r>
                        <a:rPr lang="en-IN" sz="1200" b="1" noProof="0" dirty="0" err="1"/>
                        <a:t>Gradio</a:t>
                      </a:r>
                      <a:r>
                        <a:rPr lang="en-IN" sz="1200" b="1" noProof="0" dirty="0"/>
                        <a:t> Chat Output</a:t>
                      </a:r>
                      <a:endParaRPr lang="en-IN" sz="1200" noProof="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Displays the structured response in the </a:t>
                      </a:r>
                      <a:r>
                        <a:rPr lang="en-IN" sz="1200" noProof="0" dirty="0" err="1"/>
                        <a:t>Gradio</a:t>
                      </a:r>
                      <a:r>
                        <a:rPr lang="en-IN" sz="1200" noProof="0" dirty="0"/>
                        <a:t> interface.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Combines the vector, web, and AI outputs into one chat message.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Vector:</a:t>
                      </a:r>
                      <a:r>
                        <a:rPr lang="en-IN" sz="1200" noProof="0" dirty="0"/>
                        <a:t> Canon EOS 1500D, Nikon D3500</a:t>
                      </a:r>
                      <a:r>
                        <a:rPr lang="en-IN" sz="1200" b="1" noProof="0" dirty="0"/>
                        <a:t>Web:</a:t>
                      </a:r>
                      <a:r>
                        <a:rPr lang="en-IN" sz="1200" noProof="0" dirty="0"/>
                        <a:t> Canon EOS 1500D Review — Great entry-level DSLR; Nikon D3500 Review — Superb image quality.</a:t>
                      </a:r>
                      <a:r>
                        <a:rPr lang="en-IN" sz="1200" b="1" noProof="0" dirty="0"/>
                        <a:t>AI:</a:t>
                      </a:r>
                      <a:r>
                        <a:rPr lang="en-IN" sz="1200" noProof="0" dirty="0"/>
                        <a:t> Canon is user-friendly; Nikon offers better image depth and </a:t>
                      </a:r>
                      <a:r>
                        <a:rPr lang="en-IN" sz="1200" noProof="0" dirty="0" err="1"/>
                        <a:t>color</a:t>
                      </a:r>
                      <a:r>
                        <a:rPr lang="en-IN" sz="1200" noProof="0" dirty="0"/>
                        <a:t> accuracy.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017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157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0B5A4-9BE5-0A23-3E03-19CDC9C11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3DBB0F-D6C1-971B-92B4-581492021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3_6_langgraph_product_vector_and_google_search.py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F3EBF4C3-01F4-574B-9400-AF82229894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719998"/>
          <a:ext cx="10253262" cy="4198238"/>
        </p:xfrm>
        <a:graphic>
          <a:graphicData uri="http://schemas.openxmlformats.org/drawingml/2006/table">
            <a:tbl>
              <a:tblPr/>
              <a:tblGrid>
                <a:gridCol w="2749599">
                  <a:extLst>
                    <a:ext uri="{9D8B030D-6E8A-4147-A177-3AD203B41FA5}">
                      <a16:colId xmlns:a16="http://schemas.microsoft.com/office/drawing/2014/main" val="229553565"/>
                    </a:ext>
                  </a:extLst>
                </a:gridCol>
                <a:gridCol w="3538938">
                  <a:extLst>
                    <a:ext uri="{9D8B030D-6E8A-4147-A177-3AD203B41FA5}">
                      <a16:colId xmlns:a16="http://schemas.microsoft.com/office/drawing/2014/main" val="705827701"/>
                    </a:ext>
                  </a:extLst>
                </a:gridCol>
                <a:gridCol w="3964725">
                  <a:extLst>
                    <a:ext uri="{9D8B030D-6E8A-4147-A177-3AD203B41FA5}">
                      <a16:colId xmlns:a16="http://schemas.microsoft.com/office/drawing/2014/main" val="2016134730"/>
                    </a:ext>
                  </a:extLst>
                </a:gridCol>
              </a:tblGrid>
              <a:tr h="200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Component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Purpose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Description / Example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555542"/>
                  </a:ext>
                </a:extLst>
              </a:tr>
              <a:tr h="50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State(</a:t>
                      </a: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TypedDict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)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Defines shared data structure between agents.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Keeps track of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query</a:t>
                      </a:r>
                      <a:r>
                        <a:rPr lang="en-IN" sz="1200" noProof="0" dirty="0"/>
                        <a:t>,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vector</a:t>
                      </a:r>
                      <a:r>
                        <a:rPr lang="en-IN" sz="1200" noProof="0" dirty="0"/>
                        <a:t> results, </a:t>
                      </a: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serp</a:t>
                      </a:r>
                      <a:r>
                        <a:rPr lang="en-IN" sz="1200" noProof="0" dirty="0"/>
                        <a:t> results, and </a:t>
                      </a: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llm</a:t>
                      </a:r>
                      <a:r>
                        <a:rPr lang="en-IN" sz="1200" noProof="0" dirty="0"/>
                        <a:t> output.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534290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HuggingFaceEmbeddings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Converts text → embeddings for semantic search.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Uses model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"all-MiniLM-L6-v2"</a:t>
                      </a:r>
                      <a:r>
                        <a:rPr lang="en-IN" sz="1200" noProof="0" dirty="0"/>
                        <a:t>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881753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ChatGoogleGenerativeAI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Connects to </a:t>
                      </a:r>
                      <a:r>
                        <a:rPr lang="en-IN" sz="1200" b="1" noProof="0" dirty="0"/>
                        <a:t>Gemini 2.5 Flash</a:t>
                      </a:r>
                      <a:r>
                        <a:rPr lang="en-IN" sz="1200" noProof="0" dirty="0"/>
                        <a:t> model using Google API key.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Acts as the reasoning LLM that synthesizes search results.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21572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vector_search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Node 1 — semantic search.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Finds top 2 products similar to user’s query using vector search.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081452"/>
                  </a:ext>
                </a:extLst>
              </a:tr>
              <a:tr h="50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serp_search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Node 2 — web search.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Calls </a:t>
                      </a:r>
                      <a:r>
                        <a:rPr lang="en-IN" sz="1200" b="1" noProof="0" dirty="0" err="1"/>
                        <a:t>SerpAPI</a:t>
                      </a:r>
                      <a:r>
                        <a:rPr lang="en-IN" sz="1200" noProof="0" dirty="0"/>
                        <a:t> with query like “product reviews” to fetch latest info.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617963"/>
                  </a:ext>
                </a:extLst>
              </a:tr>
              <a:tr h="50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llm_analyze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Node 3 — AI synthesis.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Combines vector DB + web results + query, sends to Gemini for natural answer.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828135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StateGraph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Defines workflow and node dependencies.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Flow: </a:t>
                      </a:r>
                      <a:r>
                        <a:rPr lang="en-IN" sz="1200" b="1" noProof="0" dirty="0" err="1"/>
                        <a:t>vector_node</a:t>
                      </a:r>
                      <a:r>
                        <a:rPr lang="en-IN" sz="1200" b="1" noProof="0" dirty="0"/>
                        <a:t> → </a:t>
                      </a:r>
                      <a:r>
                        <a:rPr lang="en-IN" sz="1200" b="1" noProof="0" dirty="0" err="1"/>
                        <a:t>serp_node</a:t>
                      </a:r>
                      <a:r>
                        <a:rPr lang="en-IN" sz="1200" b="1" noProof="0" dirty="0"/>
                        <a:t> → </a:t>
                      </a:r>
                      <a:r>
                        <a:rPr lang="en-IN" sz="1200" b="1" noProof="0" dirty="0" err="1"/>
                        <a:t>llm_node</a:t>
                      </a:r>
                      <a:r>
                        <a:rPr lang="en-IN" sz="1200" b="1" noProof="0" dirty="0"/>
                        <a:t> → END</a:t>
                      </a:r>
                      <a:r>
                        <a:rPr lang="en-IN" sz="1200" noProof="0" dirty="0"/>
                        <a:t>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881717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runnable = </a:t>
                      </a: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graph.compile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Compiles the graph into an executable workflow.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We can now call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.invoke()</a:t>
                      </a:r>
                      <a:r>
                        <a:rPr lang="en-IN" sz="1200" noProof="0" dirty="0"/>
                        <a:t> to run the full pipeline.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305235"/>
                  </a:ext>
                </a:extLst>
              </a:tr>
              <a:tr h="350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search()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 err="1"/>
                        <a:t>Gradio</a:t>
                      </a:r>
                      <a:r>
                        <a:rPr lang="en-IN" sz="1200" noProof="0" dirty="0"/>
                        <a:t> callback function.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Invokes the graph and formats the final combined answer.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448388"/>
                  </a:ext>
                </a:extLst>
              </a:tr>
              <a:tr h="200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gr.ChatInterface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(...)</a:t>
                      </a:r>
                      <a:endParaRPr lang="en-IN" sz="12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Creates interactive chatbot UI.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Displays conversation like ChatGPT.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149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17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8DBF0-F86D-8B12-0D58-3AAE54BE3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3_7_langgraph_product_comparison_detail_recomend.py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38665D-96EA-AAB8-F8B4-572D77C24A5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7273" y="1609220"/>
          <a:ext cx="10868100" cy="5097483"/>
        </p:xfrm>
        <a:graphic>
          <a:graphicData uri="http://schemas.openxmlformats.org/drawingml/2006/table">
            <a:tbl>
              <a:tblPr/>
              <a:tblGrid>
                <a:gridCol w="2638498">
                  <a:extLst>
                    <a:ext uri="{9D8B030D-6E8A-4147-A177-3AD203B41FA5}">
                      <a16:colId xmlns:a16="http://schemas.microsoft.com/office/drawing/2014/main" val="2462292725"/>
                    </a:ext>
                  </a:extLst>
                </a:gridCol>
                <a:gridCol w="2795552">
                  <a:extLst>
                    <a:ext uri="{9D8B030D-6E8A-4147-A177-3AD203B41FA5}">
                      <a16:colId xmlns:a16="http://schemas.microsoft.com/office/drawing/2014/main" val="3481457457"/>
                    </a:ext>
                  </a:extLst>
                </a:gridCol>
                <a:gridCol w="2717025">
                  <a:extLst>
                    <a:ext uri="{9D8B030D-6E8A-4147-A177-3AD203B41FA5}">
                      <a16:colId xmlns:a16="http://schemas.microsoft.com/office/drawing/2014/main" val="1926541090"/>
                    </a:ext>
                  </a:extLst>
                </a:gridCol>
                <a:gridCol w="2717025">
                  <a:extLst>
                    <a:ext uri="{9D8B030D-6E8A-4147-A177-3AD203B41FA5}">
                      <a16:colId xmlns:a16="http://schemas.microsoft.com/office/drawing/2014/main" val="10256219"/>
                    </a:ext>
                  </a:extLst>
                </a:gridCol>
              </a:tblGrid>
              <a:tr h="134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Step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Process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Description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Example Input / Output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660923"/>
                  </a:ext>
                </a:extLst>
              </a:tr>
              <a:tr h="337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1. User Input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User enters a product-related query in the </a:t>
                      </a:r>
                      <a:r>
                        <a:rPr lang="en-IN" sz="1200" noProof="0" dirty="0" err="1"/>
                        <a:t>Gradio</a:t>
                      </a:r>
                      <a:r>
                        <a:rPr lang="en-IN" sz="1200" noProof="0" dirty="0"/>
                        <a:t> interface.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The system captures the query and sends it to the </a:t>
                      </a:r>
                      <a:r>
                        <a:rPr lang="en-IN" sz="1200" noProof="0" dirty="0" err="1"/>
                        <a:t>LangGraph</a:t>
                      </a:r>
                      <a:r>
                        <a:rPr lang="en-IN" sz="1200" noProof="0" dirty="0"/>
                        <a:t> pipeline.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Input Example:</a:t>
                      </a:r>
                      <a:r>
                        <a:rPr lang="en-IN" sz="1200" noProof="0" dirty="0"/>
                        <a:t> “iPhone vs Samsung”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321338"/>
                  </a:ext>
                </a:extLst>
              </a:tr>
              <a:tr h="742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2. Node: Classify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Determines the query type (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specific</a:t>
                      </a:r>
                      <a:r>
                        <a:rPr lang="en-IN" sz="1200" noProof="0" dirty="0"/>
                        <a:t>,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compare</a:t>
                      </a:r>
                      <a:r>
                        <a:rPr lang="en-IN" sz="1200" noProof="0" dirty="0"/>
                        <a:t>, or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recommend</a:t>
                      </a:r>
                      <a:r>
                        <a:rPr lang="en-IN" sz="1200" noProof="0" dirty="0"/>
                        <a:t>).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Based on keywords in the query:• If it contains </a:t>
                      </a:r>
                      <a:r>
                        <a:rPr lang="en-IN" sz="1200" i="1" noProof="0" dirty="0"/>
                        <a:t>“vs”</a:t>
                      </a:r>
                      <a:r>
                        <a:rPr lang="en-IN" sz="1200" noProof="0" dirty="0"/>
                        <a:t> or </a:t>
                      </a:r>
                      <a:r>
                        <a:rPr lang="en-IN" sz="1200" i="1" noProof="0" dirty="0"/>
                        <a:t>“compare”</a:t>
                      </a:r>
                      <a:r>
                        <a:rPr lang="en-IN" sz="1200" noProof="0" dirty="0"/>
                        <a:t> →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compare</a:t>
                      </a:r>
                      <a:r>
                        <a:rPr lang="en-IN" sz="1200" noProof="0" dirty="0"/>
                        <a:t>• If it contains </a:t>
                      </a:r>
                      <a:r>
                        <a:rPr lang="en-IN" sz="1200" i="1" noProof="0" dirty="0"/>
                        <a:t>“best”</a:t>
                      </a:r>
                      <a:r>
                        <a:rPr lang="en-IN" sz="1200" noProof="0" dirty="0"/>
                        <a:t> or </a:t>
                      </a:r>
                      <a:r>
                        <a:rPr lang="en-IN" sz="1200" i="1" noProof="0" dirty="0"/>
                        <a:t>“recommend”</a:t>
                      </a:r>
                      <a:r>
                        <a:rPr lang="en-IN" sz="1200" noProof="0" dirty="0"/>
                        <a:t> →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recommend</a:t>
                      </a:r>
                      <a:r>
                        <a:rPr lang="en-IN" sz="1200" noProof="0" dirty="0"/>
                        <a:t>• Otherwise →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specific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Detected Type:</a:t>
                      </a:r>
                      <a:r>
                        <a:rPr lang="en-IN" sz="1200" noProof="0" dirty="0"/>
                        <a:t>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compare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774869"/>
                  </a:ext>
                </a:extLst>
              </a:tr>
              <a:tr h="438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3. Conditional Routing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Routes execution flow based on detected query type.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The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route()</a:t>
                      </a:r>
                      <a:r>
                        <a:rPr lang="en-IN" sz="1200" noProof="0" dirty="0"/>
                        <a:t> function returns the node name to jump to next (e.g.,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"compare"</a:t>
                      </a:r>
                      <a:r>
                        <a:rPr lang="en-IN" sz="1200" noProof="0" dirty="0"/>
                        <a:t>).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Route Chosen:</a:t>
                      </a:r>
                      <a:r>
                        <a:rPr lang="en-IN" sz="1200" noProof="0" dirty="0"/>
                        <a:t>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"compare"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490370"/>
                  </a:ext>
                </a:extLst>
              </a:tr>
              <a:tr h="640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4. Node: </a:t>
                      </a:r>
                      <a:r>
                        <a:rPr lang="en-IN" sz="1200" b="1" noProof="0" dirty="0" err="1"/>
                        <a:t>handle_specific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Handles single-product lookups.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Finds top 2 similar products from vector DB and uses Gemini to </a:t>
                      </a:r>
                      <a:r>
                        <a:rPr lang="en-IN" sz="1200" noProof="0" dirty="0" err="1"/>
                        <a:t>analyze</a:t>
                      </a:r>
                      <a:r>
                        <a:rPr lang="en-IN" sz="1200" noProof="0" dirty="0"/>
                        <a:t> the first product.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Example Query:</a:t>
                      </a:r>
                      <a:r>
                        <a:rPr lang="en-IN" sz="1200" noProof="0" dirty="0"/>
                        <a:t> “iPhone 15”</a:t>
                      </a:r>
                    </a:p>
                    <a:p>
                      <a:pPr>
                        <a:buNone/>
                      </a:pPr>
                      <a:r>
                        <a:rPr lang="en-IN" sz="1200" b="1" noProof="0" dirty="0"/>
                        <a:t>Output:</a:t>
                      </a:r>
                      <a:r>
                        <a:rPr lang="en-IN" sz="1200" noProof="0" dirty="0"/>
                        <a:t> “The iPhone 15 offers improved battery life and camera quality over its predecessor.”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344657"/>
                  </a:ext>
                </a:extLst>
              </a:tr>
              <a:tr h="640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5. Node: </a:t>
                      </a:r>
                      <a:r>
                        <a:rPr lang="en-IN" sz="1200" b="1" noProof="0" dirty="0" err="1"/>
                        <a:t>handle_compare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Handles product comparison queries.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Retrieves top 4 related products and asks Gemini to compare them.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Example Query:</a:t>
                      </a:r>
                      <a:r>
                        <a:rPr lang="en-IN" sz="1200" noProof="0" dirty="0"/>
                        <a:t> “iPhone vs Samsung”</a:t>
                      </a:r>
                    </a:p>
                    <a:p>
                      <a:pPr>
                        <a:buNone/>
                      </a:pPr>
                      <a:r>
                        <a:rPr lang="en-IN" sz="1200" b="1" noProof="0" dirty="0"/>
                        <a:t>Output:</a:t>
                      </a:r>
                      <a:r>
                        <a:rPr lang="en-IN" sz="1200" noProof="0" dirty="0"/>
                        <a:t> “iPhone excels in camera quality, while Samsung provides better display and battery life.”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154522"/>
                  </a:ext>
                </a:extLst>
              </a:tr>
              <a:tr h="640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6. Node: </a:t>
                      </a:r>
                      <a:r>
                        <a:rPr lang="en-IN" sz="1200" b="1" noProof="0" dirty="0" err="1"/>
                        <a:t>handle_recommend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Handles recommendation-style queries.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Retrieves top 3 related products and asks Gemini for a recommendation.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Example Query:</a:t>
                      </a:r>
                      <a:r>
                        <a:rPr lang="en-IN" sz="1200" noProof="0" dirty="0"/>
                        <a:t> “Best laptop”</a:t>
                      </a:r>
                    </a:p>
                    <a:p>
                      <a:pPr>
                        <a:buNone/>
                      </a:pPr>
                      <a:r>
                        <a:rPr lang="en-IN" sz="1200" b="1" noProof="0" dirty="0"/>
                        <a:t>Output:</a:t>
                      </a:r>
                      <a:r>
                        <a:rPr lang="en-IN" sz="1200" noProof="0" dirty="0"/>
                        <a:t> “Based on your query, Dell XPS 13 offers the best balance of performance and portability.”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196522"/>
                  </a:ext>
                </a:extLst>
              </a:tr>
              <a:tr h="337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7. Graph Edges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Connects classify → specific / compare / recommend → END.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The flow stops after the selected node finishes execution.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—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538179"/>
                  </a:ext>
                </a:extLst>
              </a:tr>
              <a:tr h="438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8. </a:t>
                      </a:r>
                      <a:r>
                        <a:rPr lang="en-IN" sz="1200" b="1" noProof="0" dirty="0" err="1"/>
                        <a:t>Gradio</a:t>
                      </a:r>
                      <a:r>
                        <a:rPr lang="en-IN" sz="1200" b="1" noProof="0" dirty="0"/>
                        <a:t> Chat Output</a:t>
                      </a:r>
                      <a:endParaRPr lang="en-IN" sz="1200" noProof="0" dirty="0"/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Displays structured output to the user.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Combines query type and LLM result in a formatted message.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Type:</a:t>
                      </a:r>
                      <a:r>
                        <a:rPr lang="en-IN" sz="1200" noProof="0" dirty="0"/>
                        <a:t> compare</a:t>
                      </a:r>
                    </a:p>
                    <a:p>
                      <a:pPr>
                        <a:buNone/>
                      </a:pPr>
                      <a:r>
                        <a:rPr lang="en-IN" sz="1200" b="1" noProof="0" dirty="0"/>
                        <a:t>AI Output:</a:t>
                      </a:r>
                      <a:r>
                        <a:rPr lang="en-IN" sz="1200" noProof="0" dirty="0"/>
                        <a:t> iPhone excels in camera quality, Samsung in display.</a:t>
                      </a:r>
                    </a:p>
                  </a:txBody>
                  <a:tcPr marL="33731" marR="33731" marT="16866" marB="168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575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9250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BD79-A6B0-985C-1E8D-CC5911F1A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noProof="0" dirty="0"/>
              <a:t>3_8_langgraph_react_style_agent.py</a:t>
            </a:r>
            <a:br>
              <a:rPr lang="en-IN" sz="3600" noProof="0" dirty="0"/>
            </a:br>
            <a:r>
              <a:rPr lang="en-IN" sz="3600" noProof="0" dirty="0" err="1"/>
              <a:t>ReAct</a:t>
            </a:r>
            <a:r>
              <a:rPr lang="en-IN" sz="3600" noProof="0" dirty="0"/>
              <a:t> Style Claude + </a:t>
            </a:r>
            <a:r>
              <a:rPr lang="en-IN" sz="3600" noProof="0" dirty="0" err="1"/>
              <a:t>SerpAPI</a:t>
            </a:r>
            <a:r>
              <a:rPr lang="en-IN" sz="3600" noProof="0" dirty="0"/>
              <a:t> Agent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666E28A-1602-95BD-AA0C-D863B8301D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460343"/>
          <a:ext cx="10515600" cy="5102591"/>
        </p:xfrm>
        <a:graphic>
          <a:graphicData uri="http://schemas.openxmlformats.org/drawingml/2006/table">
            <a:tbl>
              <a:tblPr/>
              <a:tblGrid>
                <a:gridCol w="739314">
                  <a:extLst>
                    <a:ext uri="{9D8B030D-6E8A-4147-A177-3AD203B41FA5}">
                      <a16:colId xmlns:a16="http://schemas.microsoft.com/office/drawing/2014/main" val="3521060861"/>
                    </a:ext>
                  </a:extLst>
                </a:gridCol>
                <a:gridCol w="1486773">
                  <a:extLst>
                    <a:ext uri="{9D8B030D-6E8A-4147-A177-3AD203B41FA5}">
                      <a16:colId xmlns:a16="http://schemas.microsoft.com/office/drawing/2014/main" val="3192508437"/>
                    </a:ext>
                  </a:extLst>
                </a:gridCol>
                <a:gridCol w="3915865">
                  <a:extLst>
                    <a:ext uri="{9D8B030D-6E8A-4147-A177-3AD203B41FA5}">
                      <a16:colId xmlns:a16="http://schemas.microsoft.com/office/drawing/2014/main" val="3694979926"/>
                    </a:ext>
                  </a:extLst>
                </a:gridCol>
                <a:gridCol w="4373648">
                  <a:extLst>
                    <a:ext uri="{9D8B030D-6E8A-4147-A177-3AD203B41FA5}">
                      <a16:colId xmlns:a16="http://schemas.microsoft.com/office/drawing/2014/main" val="331407759"/>
                    </a:ext>
                  </a:extLst>
                </a:gridCol>
              </a:tblGrid>
              <a:tr h="76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Step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Code Section / Function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What Happens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Example / Output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065426"/>
                  </a:ext>
                </a:extLst>
              </a:tr>
              <a:tr h="247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1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gr.Interface</a:t>
                      </a:r>
                      <a:r>
                        <a:rPr lang="en-IN" sz="1050" noProof="0" dirty="0"/>
                        <a:t> → user enters query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User types a query like </a:t>
                      </a:r>
                      <a:r>
                        <a:rPr lang="en-IN" sz="1050" i="1" noProof="0" dirty="0"/>
                        <a:t>“best headphones reviews”</a:t>
                      </a:r>
                      <a:r>
                        <a:rPr lang="en-IN" sz="1050" noProof="0" dirty="0"/>
                        <a:t> in the </a:t>
                      </a:r>
                      <a:r>
                        <a:rPr lang="en-IN" sz="1050" noProof="0" dirty="0" err="1"/>
                        <a:t>Gradio</a:t>
                      </a:r>
                      <a:r>
                        <a:rPr lang="en-IN" sz="1050" noProof="0" dirty="0"/>
                        <a:t> chat UI.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Query =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"best headphones reviews"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538741"/>
                  </a:ext>
                </a:extLst>
              </a:tr>
              <a:tr h="247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2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respond()</a:t>
                      </a:r>
                      <a:r>
                        <a:rPr lang="en-IN" sz="1050" noProof="0" dirty="0"/>
                        <a:t> (callback)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Function receives the query and passes it to 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react_agent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(query)</a:t>
                      </a:r>
                      <a:r>
                        <a:rPr lang="en-IN" sz="1050" noProof="0" dirty="0"/>
                        <a:t> generator.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Sends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"best headphones reviews"</a:t>
                      </a:r>
                      <a:r>
                        <a:rPr lang="en-IN" sz="1050" noProof="0" dirty="0"/>
                        <a:t> to </a:t>
                      </a:r>
                      <a:r>
                        <a:rPr lang="en-IN" sz="1050" noProof="0" dirty="0" err="1"/>
                        <a:t>ReAct</a:t>
                      </a:r>
                      <a:r>
                        <a:rPr lang="en-IN" sz="1050" noProof="0" dirty="0"/>
                        <a:t> agent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973049"/>
                  </a:ext>
                </a:extLst>
              </a:tr>
              <a:tr h="475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3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react_agent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(query)</a:t>
                      </a:r>
                      <a:r>
                        <a:rPr lang="en-IN" sz="1050" noProof="0" dirty="0"/>
                        <a:t> initializes state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A dictionary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state</a:t>
                      </a:r>
                      <a:r>
                        <a:rPr lang="en-IN" sz="1050" noProof="0" dirty="0"/>
                        <a:t> is created to track:</a:t>
                      </a:r>
                    </a:p>
                    <a:p>
                      <a:pPr>
                        <a:buNone/>
                      </a:pPr>
                      <a:r>
                        <a:rPr lang="en-IN" sz="1050" noProof="0" dirty="0"/>
                        <a:t>•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query</a:t>
                      </a:r>
                      <a:r>
                        <a:rPr lang="en-IN" sz="1050" noProof="0" dirty="0"/>
                        <a:t> — user question</a:t>
                      </a:r>
                    </a:p>
                    <a:p>
                      <a:pPr>
                        <a:buNone/>
                      </a:pPr>
                      <a:r>
                        <a:rPr lang="en-IN" sz="1050" noProof="0" dirty="0"/>
                        <a:t>•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history</a:t>
                      </a:r>
                      <a:r>
                        <a:rPr lang="en-IN" sz="1050" noProof="0" dirty="0"/>
                        <a:t> — all reasoning steps</a:t>
                      </a:r>
                    </a:p>
                    <a:p>
                      <a:pPr>
                        <a:buNone/>
                      </a:pPr>
                      <a:r>
                        <a:rPr lang="en-IN" sz="1050" noProof="0" dirty="0"/>
                        <a:t>•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final</a:t>
                      </a:r>
                      <a:r>
                        <a:rPr lang="en-IN" sz="1050" noProof="0" dirty="0"/>
                        <a:t> — final LLM answer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state = {"query": "best headphones reviews", "history": ["User: best headphones reviews"], "final": ""}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733466"/>
                  </a:ext>
                </a:extLst>
              </a:tr>
              <a:tr h="304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4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Prompt construction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A long </a:t>
                      </a:r>
                      <a:r>
                        <a:rPr lang="en-IN" sz="1050" b="1" noProof="0" dirty="0"/>
                        <a:t>instruction prompt</a:t>
                      </a:r>
                      <a:r>
                        <a:rPr lang="en-IN" sz="1050" noProof="0" dirty="0"/>
                        <a:t> is created explaining the strict </a:t>
                      </a:r>
                      <a:r>
                        <a:rPr lang="en-IN" sz="1050" noProof="0" dirty="0" err="1"/>
                        <a:t>ReAct</a:t>
                      </a:r>
                      <a:r>
                        <a:rPr lang="en-IN" sz="1050" noProof="0" dirty="0"/>
                        <a:t> output format (Thought → Action).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Prompt sent to Claude instructs it to produce one </a:t>
                      </a:r>
                      <a:r>
                        <a:rPr lang="en-IN" sz="1050" noProof="0" dirty="0" err="1"/>
                        <a:t>of: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Search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[...]</a:t>
                      </a:r>
                      <a:r>
                        <a:rPr lang="en-IN" sz="1050" noProof="0" dirty="0"/>
                        <a:t>, 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SerpSearch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[...]</a:t>
                      </a:r>
                      <a:r>
                        <a:rPr lang="en-IN" sz="1050" noProof="0" dirty="0"/>
                        <a:t>, or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Finalize[...]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375396"/>
                  </a:ext>
                </a:extLst>
              </a:tr>
              <a:tr h="532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5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llm.stream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(prompt)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Claude starts streaming its reasoning step-by-step. The model outputs lines </a:t>
                      </a:r>
                      <a:r>
                        <a:rPr lang="en-IN" sz="1050" noProof="0" dirty="0" err="1"/>
                        <a:t>like: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Thought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: I should look up 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reviews.Action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: 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SerpSearch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[best headphones reviews]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Streaming LLM response is collected in variable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response</a:t>
                      </a:r>
                      <a:r>
                        <a:rPr lang="en-IN" sz="1050" noProof="0" dirty="0"/>
                        <a:t>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032452"/>
                  </a:ext>
                </a:extLst>
              </a:tr>
              <a:tr h="475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6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Regex parsing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Code uses regex to extract the </a:t>
                      </a:r>
                      <a:r>
                        <a:rPr lang="en-IN" sz="1050" b="1" noProof="0" dirty="0"/>
                        <a:t>action type</a:t>
                      </a:r>
                      <a:r>
                        <a:rPr lang="en-IN" sz="1050" noProof="0" dirty="0"/>
                        <a:t> and </a:t>
                      </a:r>
                      <a:r>
                        <a:rPr lang="en-IN" sz="1050" b="1" noProof="0" dirty="0"/>
                        <a:t>argument</a:t>
                      </a:r>
                      <a:r>
                        <a:rPr lang="en-IN" sz="1050" noProof="0" dirty="0"/>
                        <a:t>:</a:t>
                      </a:r>
                    </a:p>
                    <a:p>
                      <a:pPr>
                        <a:buNone/>
                      </a:pP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action_match.group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(1)</a:t>
                      </a:r>
                      <a:r>
                        <a:rPr lang="en-IN" sz="1050" noProof="0" dirty="0"/>
                        <a:t> = 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serpsearch</a:t>
                      </a:r>
                      <a:endParaRPr lang="en-IN" sz="1050" noProof="0" dirty="0">
                        <a:latin typeface="Courier New" panose="020703090202050204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action_match.group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(2)</a:t>
                      </a:r>
                      <a:r>
                        <a:rPr lang="en-IN" sz="1050" noProof="0" dirty="0"/>
                        <a:t> =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"best headphones reviews"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action = "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serpsearch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"</a:t>
                      </a:r>
                      <a:r>
                        <a:rPr lang="en-IN" sz="1050" noProof="0" dirty="0"/>
                        <a:t>, 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arg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 = "best headphones reviews"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094937"/>
                  </a:ext>
                </a:extLst>
              </a:tr>
              <a:tr h="475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7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Execute tool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Depending on the action:</a:t>
                      </a:r>
                    </a:p>
                    <a:p>
                      <a:pPr>
                        <a:buNone/>
                      </a:pP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search</a:t>
                      </a:r>
                      <a:r>
                        <a:rPr lang="en-IN" sz="1050" noProof="0" dirty="0"/>
                        <a:t> → calls 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tool_search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arg</a:t>
                      </a:r>
                      <a:r>
                        <a:rPr lang="en-IN" sz="1050" noProof="0" dirty="0"/>
                        <a:t>, 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serpsearch</a:t>
                      </a:r>
                      <a:r>
                        <a:rPr lang="en-IN" sz="1050" noProof="0" dirty="0"/>
                        <a:t> → calls 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tool_serp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arg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en-IN" sz="1050" noProof="0" dirty="0"/>
                        <a:t> (uses </a:t>
                      </a:r>
                      <a:r>
                        <a:rPr lang="en-IN" sz="1050" noProof="0" dirty="0" err="1"/>
                        <a:t>SerpAPI</a:t>
                      </a:r>
                      <a:r>
                        <a:rPr lang="en-IN" sz="1050" noProof="0" dirty="0"/>
                        <a:t>),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finalize</a:t>
                      </a:r>
                      <a:r>
                        <a:rPr lang="en-IN" sz="1050" noProof="0" dirty="0"/>
                        <a:t> → ends loop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tool_serp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("best headphones reviews")</a:t>
                      </a:r>
                      <a:r>
                        <a:rPr lang="en-IN" sz="1050" noProof="0" dirty="0"/>
                        <a:t> fetches top Google results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876127"/>
                  </a:ext>
                </a:extLst>
              </a:tr>
              <a:tr h="304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8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Observation appended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The tool’s output is appended to the conversation </a:t>
                      </a:r>
                      <a:r>
                        <a:rPr lang="en-IN" sz="1050" noProof="0" dirty="0" err="1"/>
                        <a:t>as: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Observation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: &lt;tool output&gt;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 err="1"/>
                        <a:t>Example:</a:t>
                      </a:r>
                      <a:r>
                        <a:rPr lang="en-IN" sz="1050" noProof="0" dirty="0" err="1">
                          <a:latin typeface="Courier New" panose="02070309020205020404" pitchFamily="49" charset="0"/>
                        </a:rPr>
                        <a:t>Observation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: • Best Headphones 2024 — Excellent sound.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403300"/>
                  </a:ext>
                </a:extLst>
              </a:tr>
              <a:tr h="304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9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Loop continues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The updated history (with observation) is re-fed into Claude. It reasons again, possibly chaining multiple search actions.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Claude may produce another Thought + Action pair.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872835"/>
                  </a:ext>
                </a:extLst>
              </a:tr>
              <a:tr h="361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10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Action: Finalize[...]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When Claude outputs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Finalize[...]</a:t>
                      </a:r>
                      <a:r>
                        <a:rPr lang="en-IN" sz="1050" noProof="0" dirty="0"/>
                        <a:t>, the loop stops and the content inside brackets is returned as the final answer.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Action: Finalize[Sony WH-1000XM5 is the best choice overall.]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144389"/>
                  </a:ext>
                </a:extLst>
              </a:tr>
              <a:tr h="247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11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Yield to </a:t>
                      </a:r>
                      <a:r>
                        <a:rPr lang="en-IN" sz="1050" noProof="0" dirty="0" err="1"/>
                        <a:t>Gradio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The intermediate and final outputs are </a:t>
                      </a:r>
                      <a:r>
                        <a:rPr lang="en-IN" sz="1050" b="1" noProof="0" dirty="0"/>
                        <a:t>streamed</a:t>
                      </a:r>
                      <a:r>
                        <a:rPr lang="en-IN" sz="1050" noProof="0" dirty="0"/>
                        <a:t> back to the </a:t>
                      </a:r>
                      <a:r>
                        <a:rPr lang="en-IN" sz="1050" noProof="0" dirty="0" err="1"/>
                        <a:t>Gradio</a:t>
                      </a:r>
                      <a:r>
                        <a:rPr lang="en-IN" sz="1050" noProof="0" dirty="0"/>
                        <a:t> UI via </a:t>
                      </a:r>
                      <a:r>
                        <a:rPr lang="en-IN" sz="1050" noProof="0" dirty="0">
                          <a:latin typeface="Courier New" panose="02070309020205020404" pitchFamily="49" charset="0"/>
                        </a:rPr>
                        <a:t>yield</a:t>
                      </a:r>
                      <a:r>
                        <a:rPr lang="en-IN" sz="1050" noProof="0" dirty="0"/>
                        <a:t>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Shows “Working…” during reasoning and displays final answer when ready.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721574"/>
                  </a:ext>
                </a:extLst>
              </a:tr>
              <a:tr h="304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12</a:t>
                      </a:r>
                      <a:endParaRPr lang="en-IN" sz="1050" noProof="0" dirty="0"/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UI Display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noProof="0" dirty="0"/>
                        <a:t>The chatbot displays the trace (Thoughts, Actions, Observations) and the final answer in Markdown format.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noProof="0" dirty="0"/>
                        <a:t>Final Answer:</a:t>
                      </a:r>
                      <a:r>
                        <a:rPr lang="en-IN" sz="1050" noProof="0" dirty="0"/>
                        <a:t> “Sony WH-1000XM5 offers the best noise cancellation.”</a:t>
                      </a:r>
                    </a:p>
                  </a:txBody>
                  <a:tcPr marL="19001" marR="19001" marT="9501" marB="95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819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5071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18F61-714C-66D6-2AF6-0945CD444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C1FA24-C44F-3E4D-4EEB-0A99117B9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noProof="0" dirty="0"/>
              <a:t>3_8_langgraph_react_style_agent.py</a:t>
            </a:r>
            <a:br>
              <a:rPr lang="en-IN" sz="3200" noProof="0" dirty="0"/>
            </a:br>
            <a:r>
              <a:rPr lang="en-IN" sz="3200" noProof="0" dirty="0" err="1"/>
              <a:t>ReAct</a:t>
            </a:r>
            <a:r>
              <a:rPr lang="en-IN" sz="3200" noProof="0" dirty="0"/>
              <a:t> Style Claude + </a:t>
            </a:r>
            <a:r>
              <a:rPr lang="en-IN" sz="3200" noProof="0" dirty="0" err="1"/>
              <a:t>SerpAPI</a:t>
            </a:r>
            <a:r>
              <a:rPr lang="en-IN" sz="3200" noProof="0" dirty="0"/>
              <a:t> Agent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DC3C1499-2FAE-EEF0-019E-FE1284C7461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01844" y="1363987"/>
          <a:ext cx="10588312" cy="5003843"/>
        </p:xfrm>
        <a:graphic>
          <a:graphicData uri="http://schemas.openxmlformats.org/drawingml/2006/table">
            <a:tbl>
              <a:tblPr/>
              <a:tblGrid>
                <a:gridCol w="1353568">
                  <a:extLst>
                    <a:ext uri="{9D8B030D-6E8A-4147-A177-3AD203B41FA5}">
                      <a16:colId xmlns:a16="http://schemas.microsoft.com/office/drawing/2014/main" val="1744963784"/>
                    </a:ext>
                  </a:extLst>
                </a:gridCol>
                <a:gridCol w="2653913">
                  <a:extLst>
                    <a:ext uri="{9D8B030D-6E8A-4147-A177-3AD203B41FA5}">
                      <a16:colId xmlns:a16="http://schemas.microsoft.com/office/drawing/2014/main" val="3585029963"/>
                    </a:ext>
                  </a:extLst>
                </a:gridCol>
                <a:gridCol w="3933753">
                  <a:extLst>
                    <a:ext uri="{9D8B030D-6E8A-4147-A177-3AD203B41FA5}">
                      <a16:colId xmlns:a16="http://schemas.microsoft.com/office/drawing/2014/main" val="1545552455"/>
                    </a:ext>
                  </a:extLst>
                </a:gridCol>
                <a:gridCol w="2647078">
                  <a:extLst>
                    <a:ext uri="{9D8B030D-6E8A-4147-A177-3AD203B41FA5}">
                      <a16:colId xmlns:a16="http://schemas.microsoft.com/office/drawing/2014/main" val="1488682572"/>
                    </a:ext>
                  </a:extLst>
                </a:gridCol>
              </a:tblGrid>
              <a:tr h="95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Step / Component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Purpose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Description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Example / </a:t>
                      </a:r>
                      <a:r>
                        <a:rPr lang="en-IN" sz="1200" b="1" noProof="0" dirty="0" err="1"/>
                        <a:t>Behavior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790867"/>
                  </a:ext>
                </a:extLst>
              </a:tr>
              <a:tr h="523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1. Vector Database Setup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Retrieve semantically similar products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Loads a prebuilt vector database with </a:t>
                      </a:r>
                      <a:r>
                        <a:rPr lang="en-IN" sz="1200" b="1" noProof="0" dirty="0" err="1"/>
                        <a:t>HuggingFace</a:t>
                      </a:r>
                      <a:r>
                        <a:rPr lang="en-IN" sz="1200" b="1" noProof="0" dirty="0"/>
                        <a:t> embeddings</a:t>
                      </a:r>
                      <a:r>
                        <a:rPr lang="en-IN" sz="1200" noProof="0" dirty="0"/>
                        <a:t> to support similarity search.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Query: “best camera” → Returns: </a:t>
                      </a:r>
                      <a:r>
                        <a:rPr lang="en-IN" sz="1200" i="1" noProof="0" dirty="0"/>
                        <a:t>Canon EOS 1500D, Nikon D3500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013521"/>
                  </a:ext>
                </a:extLst>
              </a:tr>
              <a:tr h="594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2. LLM Setup (Claude)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Acts as the reasoning engine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Uses </a:t>
                      </a:r>
                      <a:r>
                        <a:rPr lang="en-IN" sz="1200" b="1" noProof="0" dirty="0" err="1"/>
                        <a:t>Anthropic’s</a:t>
                      </a:r>
                      <a:r>
                        <a:rPr lang="en-IN" sz="1200" b="1" noProof="0" dirty="0"/>
                        <a:t> Claude 3.5 Sonnet</a:t>
                      </a:r>
                      <a:r>
                        <a:rPr lang="en-IN" sz="1200" noProof="0" dirty="0"/>
                        <a:t> model in </a:t>
                      </a:r>
                      <a:r>
                        <a:rPr lang="en-IN" sz="1200" i="1" noProof="0" dirty="0"/>
                        <a:t>streaming</a:t>
                      </a:r>
                      <a:r>
                        <a:rPr lang="en-IN" sz="1200" noProof="0" dirty="0"/>
                        <a:t> mode to simulate reasoning and actions using the </a:t>
                      </a:r>
                      <a:r>
                        <a:rPr lang="en-IN" sz="1200" b="1" noProof="0" dirty="0" err="1"/>
                        <a:t>ReAct</a:t>
                      </a:r>
                      <a:r>
                        <a:rPr lang="en-IN" sz="1200" b="1" noProof="0" dirty="0"/>
                        <a:t> (Reason + Act)</a:t>
                      </a:r>
                      <a:r>
                        <a:rPr lang="en-IN" sz="1200" noProof="0" dirty="0"/>
                        <a:t> framework.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The model outputs structured steps </a:t>
                      </a:r>
                      <a:r>
                        <a:rPr lang="en-IN" sz="1200" noProof="0" dirty="0" err="1"/>
                        <a:t>like:</a:t>
                      </a: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Thought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: I should check similar </a:t>
                      </a: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products.Action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: Search[budget cameras]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750812"/>
                  </a:ext>
                </a:extLst>
              </a:tr>
              <a:tr h="45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3. Tools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Provides external capabilities for the agent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Two helper functions the LLM can “call”:• </a:t>
                      </a:r>
                      <a:r>
                        <a:rPr lang="en-IN" sz="1200" b="1" noProof="0" dirty="0" err="1"/>
                        <a:t>tool_search</a:t>
                      </a:r>
                      <a:r>
                        <a:rPr lang="en-IN" sz="1200" b="1" noProof="0" dirty="0"/>
                        <a:t>()</a:t>
                      </a:r>
                      <a:r>
                        <a:rPr lang="en-IN" sz="1200" noProof="0" dirty="0"/>
                        <a:t> — queries vector DB• </a:t>
                      </a:r>
                      <a:r>
                        <a:rPr lang="en-IN" sz="1200" b="1" noProof="0" dirty="0" err="1"/>
                        <a:t>tool_serp</a:t>
                      </a:r>
                      <a:r>
                        <a:rPr lang="en-IN" sz="1200" b="1" noProof="0" dirty="0"/>
                        <a:t>()</a:t>
                      </a:r>
                      <a:r>
                        <a:rPr lang="en-IN" sz="1200" noProof="0" dirty="0"/>
                        <a:t> — fetches live web data via </a:t>
                      </a:r>
                      <a:r>
                        <a:rPr lang="en-IN" sz="1200" noProof="0" dirty="0" err="1"/>
                        <a:t>SerpAPI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Search[DSLR cameras]</a:t>
                      </a:r>
                      <a:r>
                        <a:rPr lang="en-IN" sz="1200" noProof="0" dirty="0"/>
                        <a:t> → </a:t>
                      </a:r>
                      <a:r>
                        <a:rPr lang="en-IN" sz="1200" noProof="0" dirty="0" err="1"/>
                        <a:t>tool_search</a:t>
                      </a:r>
                      <a:r>
                        <a:rPr lang="en-IN" sz="1200" noProof="0" dirty="0"/>
                        <a:t>()</a:t>
                      </a: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SerpSearch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[DSLR reviews]</a:t>
                      </a:r>
                      <a:r>
                        <a:rPr lang="en-IN" sz="1200" noProof="0" dirty="0"/>
                        <a:t> → </a:t>
                      </a:r>
                      <a:r>
                        <a:rPr lang="en-IN" sz="1200" noProof="0" dirty="0" err="1"/>
                        <a:t>tool_serp</a:t>
                      </a:r>
                      <a:r>
                        <a:rPr lang="en-IN" sz="1200" noProof="0" dirty="0"/>
                        <a:t>()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374376"/>
                  </a:ext>
                </a:extLst>
              </a:tr>
              <a:tr h="737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4. </a:t>
                      </a:r>
                      <a:r>
                        <a:rPr lang="en-IN" sz="1200" b="1" noProof="0" dirty="0" err="1"/>
                        <a:t>ReAct</a:t>
                      </a:r>
                      <a:r>
                        <a:rPr lang="en-IN" sz="1200" b="1" noProof="0" dirty="0"/>
                        <a:t> Agent Loop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Core control mechanism that iteratively reasons, acts, and observes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The loop sends the LLM the conversation + strict format prompt → waits for an </a:t>
                      </a:r>
                      <a:r>
                        <a:rPr lang="en-IN" sz="1200" b="1" noProof="0" dirty="0"/>
                        <a:t>Action[...]</a:t>
                      </a:r>
                      <a:r>
                        <a:rPr lang="en-IN" sz="1200" noProof="0" dirty="0"/>
                        <a:t> response → executes the corresponding tool → appends </a:t>
                      </a:r>
                      <a:r>
                        <a:rPr lang="en-IN" sz="1200" b="1" noProof="0" dirty="0"/>
                        <a:t>Observation:</a:t>
                      </a:r>
                      <a:r>
                        <a:rPr lang="en-IN" sz="1200" noProof="0" dirty="0"/>
                        <a:t> results → loops again until </a:t>
                      </a:r>
                      <a:r>
                        <a:rPr lang="en-IN" sz="1200" b="1" noProof="0" dirty="0"/>
                        <a:t>Finalize[...]</a:t>
                      </a:r>
                      <a:r>
                        <a:rPr lang="en-IN" sz="1200" noProof="0" dirty="0"/>
                        <a:t> is produced.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Iteration </a:t>
                      </a:r>
                      <a:r>
                        <a:rPr lang="en-IN" sz="1200" noProof="0" dirty="0" err="1"/>
                        <a:t>example:Thought</a:t>
                      </a:r>
                      <a:r>
                        <a:rPr lang="en-IN" sz="1200" noProof="0" dirty="0"/>
                        <a:t> → Action → Observation → next Thought... → Finalize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619454"/>
                  </a:ext>
                </a:extLst>
              </a:tr>
              <a:tr h="594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5. Parsing Actions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Interprets the LLM’s structured output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Extracts action name and argument from lines </a:t>
                      </a:r>
                      <a:r>
                        <a:rPr lang="en-IN" sz="1200" noProof="0" dirty="0" err="1"/>
                        <a:t>like:</a:t>
                      </a: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Action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: </a:t>
                      </a:r>
                      <a:r>
                        <a:rPr lang="en-IN" sz="1200" noProof="0" dirty="0" err="1">
                          <a:latin typeface="Courier New" panose="02070309020205020404" pitchFamily="49" charset="0"/>
                        </a:rPr>
                        <a:t>SerpSearch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[best headphones reviews]</a:t>
                      </a:r>
                      <a:r>
                        <a:rPr lang="en-IN" sz="1200" noProof="0" dirty="0"/>
                        <a:t>using regex → determines what to execute next.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Action: Search[cheap laptops]</a:t>
                      </a:r>
                      <a:r>
                        <a:rPr lang="en-IN" sz="1200" noProof="0" dirty="0"/>
                        <a:t> → triggers vector DB search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582354"/>
                  </a:ext>
                </a:extLst>
              </a:tr>
              <a:tr h="45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6. Observations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Feeds tool results back to the agent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The output from the selected tool is appended to the </a:t>
                      </a:r>
                      <a:r>
                        <a:rPr lang="en-IN" sz="1200" b="1" noProof="0" dirty="0"/>
                        <a:t>conversation history</a:t>
                      </a:r>
                      <a:r>
                        <a:rPr lang="en-IN" sz="1200" noProof="0" dirty="0"/>
                        <a:t> as an observation so the LLM can use it for further reasoning.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Observation: “Canon EOS 1500D and Nikon D3500 found.”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739655"/>
                  </a:ext>
                </a:extLst>
              </a:tr>
              <a:tr h="45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7. Finalization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Stops reasoning loop and produces answer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When the LLM outputs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Action: Finalize[...]</a:t>
                      </a:r>
                      <a:r>
                        <a:rPr lang="en-IN" sz="1200" noProof="0" dirty="0"/>
                        <a:t>, the loop ends and returns the content inside brackets as the final result.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Action: Finalize[Canon EOS 1500D offers best balance of price and quality.]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723510"/>
                  </a:ext>
                </a:extLst>
              </a:tr>
              <a:tr h="451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8. </a:t>
                      </a:r>
                      <a:r>
                        <a:rPr lang="en-IN" sz="1200" b="1" noProof="0" dirty="0" err="1"/>
                        <a:t>Gradio</a:t>
                      </a:r>
                      <a:r>
                        <a:rPr lang="en-IN" sz="1200" b="1" noProof="0" dirty="0"/>
                        <a:t> Interface</a:t>
                      </a:r>
                      <a:endParaRPr lang="en-IN" sz="1200" noProof="0" dirty="0"/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Provides an interactive, streaming chat UI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Displays reasoning trace in real time (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Thought</a:t>
                      </a:r>
                      <a:r>
                        <a:rPr lang="en-IN" sz="1200" noProof="0" dirty="0"/>
                        <a:t>,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Action</a:t>
                      </a:r>
                      <a:r>
                        <a:rPr lang="en-IN" sz="1200" noProof="0" dirty="0"/>
                        <a:t>,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Observation</a:t>
                      </a:r>
                      <a:r>
                        <a:rPr lang="en-IN" sz="1200" noProof="0" dirty="0"/>
                        <a:t>, </a:t>
                      </a:r>
                      <a:r>
                        <a:rPr lang="en-IN" sz="1200" noProof="0" dirty="0">
                          <a:latin typeface="Courier New" panose="02070309020205020404" pitchFamily="49" charset="0"/>
                        </a:rPr>
                        <a:t>Finalize</a:t>
                      </a:r>
                      <a:r>
                        <a:rPr lang="en-IN" sz="1200" noProof="0" dirty="0"/>
                        <a:t>) using </a:t>
                      </a:r>
                      <a:r>
                        <a:rPr lang="en-IN" sz="1200" b="1" noProof="0" dirty="0" err="1"/>
                        <a:t>Gradio</a:t>
                      </a:r>
                      <a:r>
                        <a:rPr lang="en-IN" sz="1200" b="1" noProof="0" dirty="0"/>
                        <a:t> Chatbot</a:t>
                      </a:r>
                      <a:r>
                        <a:rPr lang="en-IN" sz="1200" noProof="0" dirty="0"/>
                        <a:t>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noProof="0" dirty="0"/>
                        <a:t>User sees each reasoning step unfold live as Claude thinks and acts.</a:t>
                      </a:r>
                    </a:p>
                  </a:txBody>
                  <a:tcPr marL="23778" marR="23778" marT="11889" marB="118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410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347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0238D-7019-B499-9769-53859BA55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F5C1C-D194-D265-35DC-9590E916D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Agentic Patterns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C9A64A-C4EF-A8CD-DBB7-039555DE90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6331" y="1539439"/>
          <a:ext cx="10909980" cy="536419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661278">
                  <a:extLst>
                    <a:ext uri="{9D8B030D-6E8A-4147-A177-3AD203B41FA5}">
                      <a16:colId xmlns:a16="http://schemas.microsoft.com/office/drawing/2014/main" val="156457866"/>
                    </a:ext>
                  </a:extLst>
                </a:gridCol>
                <a:gridCol w="3078247">
                  <a:extLst>
                    <a:ext uri="{9D8B030D-6E8A-4147-A177-3AD203B41FA5}">
                      <a16:colId xmlns:a16="http://schemas.microsoft.com/office/drawing/2014/main" val="4043585729"/>
                    </a:ext>
                  </a:extLst>
                </a:gridCol>
                <a:gridCol w="6170455">
                  <a:extLst>
                    <a:ext uri="{9D8B030D-6E8A-4147-A177-3AD203B41FA5}">
                      <a16:colId xmlns:a16="http://schemas.microsoft.com/office/drawing/2014/main" val="1126340586"/>
                    </a:ext>
                  </a:extLst>
                </a:gridCol>
              </a:tblGrid>
              <a:tr h="172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Concept</a:t>
                      </a:r>
                      <a:endParaRPr lang="en-IN" sz="1800" noProof="0" dirty="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Description</a:t>
                      </a:r>
                      <a:endParaRPr lang="en-IN" sz="1800" noProof="0" dirty="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Key Components / Example</a:t>
                      </a:r>
                      <a:endParaRPr lang="en-IN" sz="1800" noProof="0" dirty="0"/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2158772218"/>
                  </a:ext>
                </a:extLst>
              </a:tr>
              <a:tr h="1335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1. </a:t>
                      </a:r>
                      <a:r>
                        <a:rPr lang="en-IN" sz="1800" b="1" noProof="0" dirty="0" err="1"/>
                        <a:t>ReAct</a:t>
                      </a:r>
                      <a:r>
                        <a:rPr lang="en-IN" sz="1800" b="1" noProof="0" dirty="0"/>
                        <a:t> (Reasoning and Acting)</a:t>
                      </a:r>
                      <a:endParaRPr lang="en-IN" sz="1800" noProof="0" dirty="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Central pattern where the LLM “thinks” before it “acts.”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Reasoning (Thought):</a:t>
                      </a:r>
                      <a:r>
                        <a:rPr lang="en-IN" sz="1800" noProof="0" dirty="0"/>
                        <a:t> Generates internal reasoning to plan next </a:t>
                      </a:r>
                      <a:r>
                        <a:rPr lang="en-IN" sz="1800" noProof="0" dirty="0" err="1"/>
                        <a:t>move.</a:t>
                      </a:r>
                      <a:r>
                        <a:rPr lang="en-IN" sz="1800" b="1" noProof="0" dirty="0" err="1"/>
                        <a:t>Acting</a:t>
                      </a:r>
                      <a:r>
                        <a:rPr lang="en-IN" sz="1800" b="1" noProof="0" dirty="0"/>
                        <a:t> (Action):</a:t>
                      </a:r>
                      <a:r>
                        <a:rPr lang="en-IN" sz="1800" noProof="0" dirty="0"/>
                        <a:t> Executes a structured action (e.g., Search[query], </a:t>
                      </a:r>
                      <a:r>
                        <a:rPr lang="en-IN" sz="1800" noProof="0" dirty="0" err="1"/>
                        <a:t>SerpSearch</a:t>
                      </a:r>
                      <a:r>
                        <a:rPr lang="en-IN" sz="1800" noProof="0" dirty="0"/>
                        <a:t>[query], </a:t>
                      </a:r>
                      <a:r>
                        <a:rPr lang="en-IN" sz="1800" noProof="0" dirty="0" err="1"/>
                        <a:t>Ntfy</a:t>
                      </a:r>
                      <a:r>
                        <a:rPr lang="en-IN" sz="1800" noProof="0" dirty="0"/>
                        <a:t>[message]).</a:t>
                      </a:r>
                      <a:r>
                        <a:rPr lang="en-IN" sz="1800" b="1" noProof="0" dirty="0"/>
                        <a:t>Observing (Observation):</a:t>
                      </a:r>
                      <a:r>
                        <a:rPr lang="en-IN" sz="1800" noProof="0" dirty="0"/>
                        <a:t> Receives action output, feeds it back to the LLM for next step.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1685049149"/>
                  </a:ext>
                </a:extLst>
              </a:tr>
              <a:tr h="947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2. Multi-Tool Use</a:t>
                      </a:r>
                      <a:endParaRPr lang="en-IN" sz="1800" noProof="0" dirty="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Agent can use multiple tools to accomplish a task, not limited to one.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 err="1"/>
                        <a:t>tool_search</a:t>
                      </a:r>
                      <a:r>
                        <a:rPr lang="en-IN" sz="1800" b="1" noProof="0" dirty="0"/>
                        <a:t>:</a:t>
                      </a:r>
                      <a:r>
                        <a:rPr lang="en-IN" sz="1800" noProof="0" dirty="0"/>
                        <a:t> Retrieve internal structured data (vector DB).</a:t>
                      </a:r>
                      <a:r>
                        <a:rPr lang="en-IN" sz="1800" b="1" noProof="0" dirty="0" err="1"/>
                        <a:t>tool_serp</a:t>
                      </a:r>
                      <a:r>
                        <a:rPr lang="en-IN" sz="1800" b="1" noProof="0" dirty="0"/>
                        <a:t>:</a:t>
                      </a:r>
                      <a:r>
                        <a:rPr lang="en-IN" sz="1800" noProof="0" dirty="0"/>
                        <a:t> Perform external web searches (</a:t>
                      </a:r>
                      <a:r>
                        <a:rPr lang="en-IN" sz="1800" noProof="0" dirty="0" err="1"/>
                        <a:t>SerpAPI</a:t>
                      </a:r>
                      <a:r>
                        <a:rPr lang="en-IN" sz="1800" noProof="0" dirty="0"/>
                        <a:t>).</a:t>
                      </a:r>
                      <a:r>
                        <a:rPr lang="en-IN" sz="1800" b="1" noProof="0" dirty="0" err="1"/>
                        <a:t>tool_ntfy</a:t>
                      </a:r>
                      <a:r>
                        <a:rPr lang="en-IN" sz="1800" b="1" noProof="0" dirty="0"/>
                        <a:t>:</a:t>
                      </a:r>
                      <a:r>
                        <a:rPr lang="en-IN" sz="1800" noProof="0" dirty="0"/>
                        <a:t> Send external asynchronous </a:t>
                      </a:r>
                      <a:r>
                        <a:rPr lang="en-IN" sz="1800" noProof="0" dirty="0" err="1"/>
                        <a:t>notifications.</a:t>
                      </a:r>
                      <a:r>
                        <a:rPr lang="en-IN" sz="1800" b="1" noProof="0" dirty="0" err="1"/>
                        <a:t>Finalize</a:t>
                      </a:r>
                      <a:r>
                        <a:rPr lang="en-IN" sz="1800" b="1" noProof="0" dirty="0"/>
                        <a:t>:</a:t>
                      </a:r>
                      <a:r>
                        <a:rPr lang="en-IN" sz="1800" noProof="0" dirty="0"/>
                        <a:t> Marks the end of process, providing final answer.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3021538234"/>
                  </a:ext>
                </a:extLst>
              </a:tr>
              <a:tr h="818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3. Agent Loop / Iterative Refinement</a:t>
                      </a:r>
                      <a:endParaRPr lang="en-IN" sz="1800" noProof="0" dirty="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Agent continuously iterates until a final answer is produced.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Uses while True loop inside </a:t>
                      </a:r>
                      <a:r>
                        <a:rPr lang="en-IN" sz="1800" noProof="0" dirty="0" err="1"/>
                        <a:t>react_agent.Executes</a:t>
                      </a:r>
                      <a:r>
                        <a:rPr lang="en-IN" sz="1800" noProof="0" dirty="0"/>
                        <a:t> repeated </a:t>
                      </a:r>
                      <a:r>
                        <a:rPr lang="en-IN" sz="1800" b="1" noProof="0" dirty="0"/>
                        <a:t>Thought → Action → Observation</a:t>
                      </a:r>
                      <a:r>
                        <a:rPr lang="en-IN" sz="1800" noProof="0" dirty="0"/>
                        <a:t> </a:t>
                      </a:r>
                      <a:r>
                        <a:rPr lang="en-IN" sz="1800" noProof="0" dirty="0" err="1"/>
                        <a:t>cycles.Can</a:t>
                      </a:r>
                      <a:r>
                        <a:rPr lang="en-IN" sz="1800" noProof="0" dirty="0"/>
                        <a:t> adjust strategy based on previous observations (e.g., try a different query if </a:t>
                      </a:r>
                      <a:r>
                        <a:rPr lang="en-IN" sz="1800" noProof="0" dirty="0" err="1"/>
                        <a:t>SerpSearch</a:t>
                      </a:r>
                      <a:r>
                        <a:rPr lang="en-IN" sz="1800" noProof="0" dirty="0"/>
                        <a:t> fails).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451936954"/>
                  </a:ext>
                </a:extLst>
              </a:tr>
              <a:tr h="1077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noProof="0" dirty="0"/>
                        <a:t>4. State Management</a:t>
                      </a:r>
                      <a:endParaRPr lang="en-IN" sz="1800" noProof="0" dirty="0"/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Maintains context and history throughout the agent’s operation.</a:t>
                      </a:r>
                    </a:p>
                  </a:txBody>
                  <a:tcPr marL="43083" marR="43083" marT="21541" marB="2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noProof="0" dirty="0"/>
                        <a:t>Uses a dictionary: state = {"query": query, "history": [</a:t>
                      </a:r>
                      <a:r>
                        <a:rPr lang="en-IN" sz="1800" noProof="0" dirty="0" err="1"/>
                        <a:t>f"User</a:t>
                      </a:r>
                      <a:r>
                        <a:rPr lang="en-IN" sz="1800" noProof="0" dirty="0"/>
                        <a:t>: {query}"], "final": ""}.</a:t>
                      </a:r>
                      <a:r>
                        <a:rPr lang="en-IN" sz="1800" b="1" noProof="0" dirty="0"/>
                        <a:t>history:</a:t>
                      </a:r>
                      <a:r>
                        <a:rPr lang="en-IN" sz="1800" noProof="0" dirty="0"/>
                        <a:t> Tracks all thoughts, actions, and observations so the agent “remembers” context and progress.</a:t>
                      </a:r>
                    </a:p>
                  </a:txBody>
                  <a:tcPr marL="43083" marR="43083" marT="21541" marB="21541" anchor="ctr"/>
                </a:tc>
                <a:extLst>
                  <a:ext uri="{0D108BD9-81ED-4DB2-BD59-A6C34878D82A}">
                    <a16:rowId xmlns:a16="http://schemas.microsoft.com/office/drawing/2014/main" val="2084674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71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E16C7-C2F6-1A6B-2239-57C71E506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32FAB-D6F0-26CC-EEF0-2AB3DCF56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More Agentic Patterns/Features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A69078-4DF2-4A18-0F2C-BC4ED0AEE06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19537" y="1428759"/>
          <a:ext cx="10515600" cy="411480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049745">
                  <a:extLst>
                    <a:ext uri="{9D8B030D-6E8A-4147-A177-3AD203B41FA5}">
                      <a16:colId xmlns:a16="http://schemas.microsoft.com/office/drawing/2014/main" val="3423643001"/>
                    </a:ext>
                  </a:extLst>
                </a:gridCol>
                <a:gridCol w="4872147">
                  <a:extLst>
                    <a:ext uri="{9D8B030D-6E8A-4147-A177-3AD203B41FA5}">
                      <a16:colId xmlns:a16="http://schemas.microsoft.com/office/drawing/2014/main" val="3801525920"/>
                    </a:ext>
                  </a:extLst>
                </a:gridCol>
                <a:gridCol w="2593708">
                  <a:extLst>
                    <a:ext uri="{9D8B030D-6E8A-4147-A177-3AD203B41FA5}">
                      <a16:colId xmlns:a16="http://schemas.microsoft.com/office/drawing/2014/main" val="2084314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0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Guardrails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Block queries that contain objectionable words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3_10_langgraph_guardrails.py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4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Long Term Memory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Add long term memory using an in-memory database (SQLite). If a user enters the same question as another user previously, load it from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3_11_langgraph_long_term_memory.py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Explainability &amp; Transparency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Explain why certain product matches are shown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3_12_langgraph_explainability.py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Observability &amp; Monitoring</a:t>
                      </a:r>
                      <a:endParaRPr lang="en-IN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Log events and allow the admin to access the logs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3_13_langgraph_observability.py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226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Human In The Loop (HITL)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The user can approve the search results, or edit them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noProof="0" dirty="0"/>
                        <a:t>3_14_langgraph_hitl.py</a:t>
                      </a:r>
                    </a:p>
                    <a:p>
                      <a:pPr>
                        <a:buNone/>
                      </a:pPr>
                      <a:endParaRPr lang="en-IN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954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5429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5784</Words>
  <Application>Microsoft Office PowerPoint</Application>
  <PresentationFormat>Widescreen</PresentationFormat>
  <Paragraphs>815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Cascadia Code</vt:lpstr>
      <vt:lpstr>Courier New</vt:lpstr>
      <vt:lpstr>Office Theme</vt:lpstr>
      <vt:lpstr>3) LangGraph</vt:lpstr>
      <vt:lpstr>Evolution of Approaches to Work with LLMs</vt:lpstr>
      <vt:lpstr>Comparison of the Approaches</vt:lpstr>
      <vt:lpstr>LangChain and LangGraph</vt:lpstr>
      <vt:lpstr>LangChain versus LangGraph</vt:lpstr>
      <vt:lpstr>LangGraph:  Key Components</vt:lpstr>
      <vt:lpstr>First LangGraph Application (C:\code\agenticai\3_langgraph\3_1_langgraph_basic.py)</vt:lpstr>
      <vt:lpstr>First LangGraph Application (C:\code\agentic_ai\3_langgraph\3_1_langgraph_basic.py)</vt:lpstr>
      <vt:lpstr>First LangGraph Application (C:\code\agentic_ai\3_langgraph\3_1_langgraph_basic.py)</vt:lpstr>
      <vt:lpstr>First LangGraph Application (C:\code\agentic_ai\3_langgraph\3_1_langgraph_basic.py)</vt:lpstr>
      <vt:lpstr>TypeDict Versus Pydantic BaseModel</vt:lpstr>
      <vt:lpstr>TypeDict Versus Pydantic BaseModel</vt:lpstr>
      <vt:lpstr>TypedDict in Agents: Common Pattern</vt:lpstr>
      <vt:lpstr>LangGraph Examples</vt:lpstr>
      <vt:lpstr>LangGraph Examples</vt:lpstr>
      <vt:lpstr>LangGraph Memory Options</vt:lpstr>
      <vt:lpstr>Memory Details</vt:lpstr>
      <vt:lpstr>ChromaDB</vt:lpstr>
      <vt:lpstr>PowerPoint Presentation</vt:lpstr>
      <vt:lpstr>Embedding and Storage in ChromaDB</vt:lpstr>
      <vt:lpstr>Representation Inside ChromaDB</vt:lpstr>
      <vt:lpstr>3_6_langgraph_product_vector_and_google_search.py</vt:lpstr>
      <vt:lpstr>3_6_langgraph_product_vector_and_google_search.py</vt:lpstr>
      <vt:lpstr>3_7_langgraph_product_comparison_detail_recomend.py</vt:lpstr>
      <vt:lpstr>3_8_langgraph_react_style_agent.py ReAct Style Claude + SerpAPI Agent</vt:lpstr>
      <vt:lpstr>3_8_langgraph_react_style_agent.py ReAct Style Claude + SerpAPI Agent</vt:lpstr>
      <vt:lpstr>Agentic Patterns Used</vt:lpstr>
      <vt:lpstr>More Agentic Patterns/Features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5</cp:revision>
  <dcterms:created xsi:type="dcterms:W3CDTF">2025-10-07T06:31:08Z</dcterms:created>
  <dcterms:modified xsi:type="dcterms:W3CDTF">2025-11-22T13:47:40Z</dcterms:modified>
</cp:coreProperties>
</file>